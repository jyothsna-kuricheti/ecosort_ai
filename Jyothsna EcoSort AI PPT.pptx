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011489" y="2229594"/>
            <a:ext cx="2168872" cy="276225"/>
          </a:xfrm>
          <a:prstGeom prst="rect">
            <a:avLst/>
          </a:prstGeom>
        </p:spPr>
      </p:pic>
      <p:sp>
        <p:nvSpPr>
          <p:cNvPr id="4" name="TextBox 3"/>
          <p:cNvSpPr txBox="1"/>
          <p:nvPr/>
        </p:nvSpPr>
        <p:spPr>
          <a:xfrm>
            <a:off x="3922450" y="2696319"/>
            <a:ext cx="4346949" cy="670470"/>
          </a:xfrm>
          <a:prstGeom prst="rect">
            <a:avLst/>
          </a:prstGeom>
          <a:noFill/>
        </p:spPr>
        <p:txBody>
          <a:bodyPr wrap="square" lIns="0" rIns="0" tIns="0" bIns="0" anchor="t">
            <a:spAutoFit/>
          </a:bodyPr>
          <a:lstStyle/>
          <a:p>
            <a:pPr algn="ctr">
              <a:lnSpc>
                <a:spcPts val="5280"/>
              </a:lnSpc>
            </a:pPr>
            <a:r>
              <a:rPr b="1" sz="4800" i="0" u="none">
                <a:solidFill>
                  <a:srgbClr val="0F172A"/>
                </a:solidFill>
                <a:latin typeface="Plus Jakarta Sans"/>
              </a:rPr>
              <a:t>♻️ EcoSort_AI</a:t>
            </a:r>
          </a:p>
        </p:txBody>
      </p:sp>
      <p:sp>
        <p:nvSpPr>
          <p:cNvPr id="5" name="TextBox 4"/>
          <p:cNvSpPr txBox="1"/>
          <p:nvPr/>
        </p:nvSpPr>
        <p:spPr>
          <a:xfrm>
            <a:off x="2919412" y="3538239"/>
            <a:ext cx="6353175" cy="324742"/>
          </a:xfrm>
          <a:prstGeom prst="rect">
            <a:avLst/>
          </a:prstGeom>
          <a:noFill/>
        </p:spPr>
        <p:txBody>
          <a:bodyPr wrap="square" lIns="0" rIns="0" tIns="0" bIns="0" anchor="t">
            <a:spAutoFit/>
          </a:bodyPr>
          <a:lstStyle/>
          <a:p>
            <a:pPr algn="ctr">
              <a:lnSpc>
                <a:spcPts val="2557"/>
              </a:lnSpc>
            </a:pPr>
            <a:r>
              <a:rPr b="0" sz="1650" i="0" u="none">
                <a:solidFill>
                  <a:srgbClr val="475569"/>
                </a:solidFill>
                <a:latin typeface="Inter"/>
              </a:rPr>
              <a:t>Smart Waste Classification Using Convolutional Neural Networks</a:t>
            </a:r>
          </a:p>
        </p:txBody>
      </p:sp>
      <p:sp>
        <p:nvSpPr>
          <p:cNvPr id="6" name="TextBox 5"/>
          <p:cNvSpPr txBox="1"/>
          <p:nvPr/>
        </p:nvSpPr>
        <p:spPr>
          <a:xfrm>
            <a:off x="5072062" y="4263032"/>
            <a:ext cx="2047875" cy="250924"/>
          </a:xfrm>
          <a:prstGeom prst="rect">
            <a:avLst/>
          </a:prstGeom>
          <a:noFill/>
        </p:spPr>
        <p:txBody>
          <a:bodyPr wrap="square" lIns="0" rIns="0" tIns="0" bIns="0" anchor="t">
            <a:spAutoFit/>
          </a:bodyPr>
          <a:lstStyle/>
          <a:p>
            <a:pPr algn="ctr">
              <a:lnSpc>
                <a:spcPts val="1976"/>
              </a:lnSpc>
            </a:pPr>
            <a:r>
              <a:rPr b="0" sz="1275" i="0" u="none">
                <a:solidFill>
                  <a:srgbClr val="0D9488"/>
                </a:solidFill>
                <a:latin typeface="Inter SemiBold"/>
              </a:rPr>
              <a:t>Developed By: JYOTHSNA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524500" y="2374850"/>
            <a:ext cx="1143000" cy="276225"/>
          </a:xfrm>
          <a:prstGeom prst="rect">
            <a:avLst/>
          </a:prstGeom>
        </p:spPr>
      </p:pic>
      <p:sp>
        <p:nvSpPr>
          <p:cNvPr id="4" name="TextBox 3"/>
          <p:cNvSpPr txBox="1"/>
          <p:nvPr/>
        </p:nvSpPr>
        <p:spPr>
          <a:xfrm>
            <a:off x="2585561" y="2841575"/>
            <a:ext cx="7020877" cy="628650"/>
          </a:xfrm>
          <a:prstGeom prst="rect">
            <a:avLst/>
          </a:prstGeom>
          <a:noFill/>
        </p:spPr>
        <p:txBody>
          <a:bodyPr wrap="square" lIns="0" rIns="0" tIns="0" bIns="0" anchor="t">
            <a:spAutoFit/>
          </a:bodyPr>
          <a:lstStyle/>
          <a:p>
            <a:pPr algn="ctr"/>
            <a:r>
              <a:rPr b="1" sz="3900" i="0" u="none">
                <a:solidFill>
                  <a:srgbClr val="0F172A"/>
                </a:solidFill>
                <a:latin typeface="Plus Jakarta Sans"/>
              </a:rPr>
              <a:t>Executive Summary &amp; Goals</a:t>
            </a:r>
          </a:p>
        </p:txBody>
      </p:sp>
      <p:sp>
        <p:nvSpPr>
          <p:cNvPr id="5" name="TextBox 4"/>
          <p:cNvSpPr txBox="1"/>
          <p:nvPr/>
        </p:nvSpPr>
        <p:spPr>
          <a:xfrm>
            <a:off x="871537" y="3622625"/>
            <a:ext cx="10448925" cy="250924"/>
          </a:xfrm>
          <a:prstGeom prst="rect">
            <a:avLst/>
          </a:prstGeom>
          <a:noFill/>
        </p:spPr>
        <p:txBody>
          <a:bodyPr wrap="square" lIns="0" rIns="0" tIns="0" bIns="0" anchor="t">
            <a:spAutoFit/>
          </a:bodyPr>
          <a:lstStyle/>
          <a:p>
            <a:pPr algn="ctr">
              <a:lnSpc>
                <a:spcPts val="1976"/>
              </a:lnSpc>
            </a:pPr>
            <a:r>
              <a:rPr b="0" sz="1275" i="0" u="none">
                <a:solidFill>
                  <a:srgbClr val="334155"/>
                </a:solidFill>
                <a:latin typeface="Inter"/>
              </a:rPr>
              <a:t>Automating waste segregation with deep learning computer vision to enable real-time classification across 12 distinct waste categories.</a:t>
            </a:r>
          </a:p>
        </p:txBody>
      </p:sp>
      <p:sp>
        <p:nvSpPr>
          <p:cNvPr id="6" name="Rectangle 5"/>
          <p:cNvSpPr/>
          <p:nvPr/>
        </p:nvSpPr>
        <p:spPr>
          <a:xfrm>
            <a:off x="5715000" y="4216449"/>
            <a:ext cx="76200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1966912"/>
            <a:ext cx="5334000" cy="501848"/>
          </a:xfrm>
          <a:prstGeom prst="rect">
            <a:avLst/>
          </a:prstGeom>
          <a:noFill/>
        </p:spPr>
        <p:txBody>
          <a:bodyPr wrap="square" lIns="0" rIns="0" tIns="0" bIns="0" anchor="t">
            <a:spAutoFit/>
          </a:bodyPr>
          <a:lstStyle/>
          <a:p>
            <a:pPr algn="l">
              <a:lnSpc>
                <a:spcPts val="1976"/>
              </a:lnSpc>
            </a:pPr>
            <a:r>
              <a:rPr b="1" sz="1275" i="0" u="none">
                <a:solidFill>
                  <a:srgbClr val="334155"/>
                </a:solidFill>
                <a:latin typeface="Inter"/>
              </a:rPr>
              <a:t>Automated Waste Segregation:</a:t>
            </a:r>
            <a:r>
              <a:rPr b="0" sz="1275" i="0" u="none">
                <a:solidFill>
                  <a:srgbClr val="334155"/>
                </a:solidFill>
                <a:latin typeface="Inter"/>
              </a:rPr>
              <a:t> Eliminates manual sorting errors and significantly speeds up municipal recycling processes.</a:t>
            </a:r>
          </a:p>
        </p:txBody>
      </p:sp>
      <p:sp>
        <p:nvSpPr>
          <p:cNvPr id="4" name="TextBox 3"/>
          <p:cNvSpPr txBox="1"/>
          <p:nvPr/>
        </p:nvSpPr>
        <p:spPr>
          <a:xfrm>
            <a:off x="571500" y="2659260"/>
            <a:ext cx="5334000" cy="501848"/>
          </a:xfrm>
          <a:prstGeom prst="rect">
            <a:avLst/>
          </a:prstGeom>
          <a:noFill/>
        </p:spPr>
        <p:txBody>
          <a:bodyPr wrap="square" lIns="0" rIns="0" tIns="0" bIns="0" anchor="t">
            <a:spAutoFit/>
          </a:bodyPr>
          <a:lstStyle/>
          <a:p>
            <a:pPr algn="l">
              <a:lnSpc>
                <a:spcPts val="1976"/>
              </a:lnSpc>
            </a:pPr>
            <a:r>
              <a:rPr b="1" sz="1275" i="0" u="none">
                <a:solidFill>
                  <a:srgbClr val="334155"/>
                </a:solidFill>
                <a:latin typeface="Inter"/>
              </a:rPr>
              <a:t>Custom CNN Architecture:</a:t>
            </a:r>
            <a:r>
              <a:rPr b="0" sz="1275" i="0" u="none">
                <a:solidFill>
                  <a:srgbClr val="334155"/>
                </a:solidFill>
                <a:latin typeface="Inter"/>
              </a:rPr>
              <a:t> Built using TensorFlow/Keras to extract detailed texture, shape, and color feature maps.</a:t>
            </a:r>
          </a:p>
        </p:txBody>
      </p:sp>
      <p:sp>
        <p:nvSpPr>
          <p:cNvPr id="5" name="TextBox 4"/>
          <p:cNvSpPr txBox="1"/>
          <p:nvPr/>
        </p:nvSpPr>
        <p:spPr>
          <a:xfrm>
            <a:off x="571500" y="3351609"/>
            <a:ext cx="5334000" cy="501848"/>
          </a:xfrm>
          <a:prstGeom prst="rect">
            <a:avLst/>
          </a:prstGeom>
          <a:noFill/>
        </p:spPr>
        <p:txBody>
          <a:bodyPr wrap="square" lIns="0" rIns="0" tIns="0" bIns="0" anchor="t">
            <a:spAutoFit/>
          </a:bodyPr>
          <a:lstStyle/>
          <a:p>
            <a:pPr algn="l">
              <a:lnSpc>
                <a:spcPts val="1976"/>
              </a:lnSpc>
            </a:pPr>
            <a:r>
              <a:rPr b="1" sz="1275" i="0" u="none">
                <a:solidFill>
                  <a:srgbClr val="334155"/>
                </a:solidFill>
                <a:latin typeface="Inter"/>
              </a:rPr>
              <a:t>12 Waste Categories:</a:t>
            </a:r>
            <a:r>
              <a:rPr b="0" sz="1275" i="0" u="none">
                <a:solidFill>
                  <a:srgbClr val="334155"/>
                </a:solidFill>
                <a:latin typeface="Inter"/>
              </a:rPr>
              <a:t> Extends beyond simple binary sorting to cover paper, plastic, glass, clothes, batteries, organic, and e-waste.</a:t>
            </a:r>
          </a:p>
        </p:txBody>
      </p:sp>
      <p:sp>
        <p:nvSpPr>
          <p:cNvPr id="6" name="TextBox 5"/>
          <p:cNvSpPr txBox="1"/>
          <p:nvPr/>
        </p:nvSpPr>
        <p:spPr>
          <a:xfrm>
            <a:off x="571500" y="4043957"/>
            <a:ext cx="5334000" cy="501848"/>
          </a:xfrm>
          <a:prstGeom prst="rect">
            <a:avLst/>
          </a:prstGeom>
          <a:noFill/>
        </p:spPr>
        <p:txBody>
          <a:bodyPr wrap="square" lIns="0" rIns="0" tIns="0" bIns="0" anchor="t">
            <a:spAutoFit/>
          </a:bodyPr>
          <a:lstStyle/>
          <a:p>
            <a:pPr algn="l">
              <a:lnSpc>
                <a:spcPts val="1976"/>
              </a:lnSpc>
            </a:pPr>
            <a:r>
              <a:rPr b="1" sz="1275" i="0" u="none">
                <a:solidFill>
                  <a:srgbClr val="334155"/>
                </a:solidFill>
                <a:latin typeface="Inter"/>
              </a:rPr>
              <a:t>Smart City Ready:</a:t>
            </a:r>
            <a:r>
              <a:rPr b="0" sz="1275" i="0" u="none">
                <a:solidFill>
                  <a:srgbClr val="334155"/>
                </a:solidFill>
                <a:latin typeface="Inter"/>
              </a:rPr>
              <a:t> Ready for edge integration into IoT smart bins with automated sorting mechanism triggers.</a:t>
            </a:r>
          </a:p>
        </p:txBody>
      </p:sp>
      <p:pic>
        <p:nvPicPr>
          <p:cNvPr id="7" name="Picture 6" descr="image.png"/>
          <p:cNvPicPr>
            <a:picLocks noChangeAspect="1"/>
          </p:cNvPicPr>
          <p:nvPr/>
        </p:nvPicPr>
        <p:blipFill>
          <a:blip r:embed="rId3"/>
          <a:stretch>
            <a:fillRect/>
          </a:stretch>
        </p:blipFill>
        <p:spPr>
          <a:xfrm>
            <a:off x="6286500" y="1966912"/>
            <a:ext cx="5334000" cy="3619500"/>
          </a:xfrm>
          <a:prstGeom prst="rect">
            <a:avLst/>
          </a:prstGeom>
        </p:spPr>
      </p:pic>
      <p:sp>
        <p:nvSpPr>
          <p:cNvPr id="8" name="TextBox 7"/>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Plus Jakarta Sans"/>
              </a:rPr>
              <a:t>Project Motivation &amp; Objectives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graphicFrame>
        <p:nvGraphicFramePr>
          <p:cNvPr id="3" name="Table 2"/>
          <p:cNvGraphicFramePr>
            <a:graphicFrameLocks noGrp="1"/>
          </p:cNvGraphicFramePr>
          <p:nvPr/>
        </p:nvGraphicFramePr>
        <p:xfrm>
          <a:off x="571500" y="1478756"/>
          <a:ext cx="11048998" cy="4595812"/>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447329"/>
                <a:gridCol w="2008882"/>
                <a:gridCol w="1909762"/>
                <a:gridCol w="4683025"/>
              </a:tblGrid>
              <a:tr h="459581">
                <a:tc>
                  <a:txBody>
                    <a:bodyPr/>
                    <a:lstStyle/>
                    <a:p>
                      <a:pPr algn="l"/>
                      <a:r>
                        <a:rPr b="0" sz="1125" i="0" u="none">
                          <a:solidFill>
                            <a:srgbClr val="FFFFFF"/>
                          </a:solidFill>
                          <a:latin typeface="Plus Jakarta Sans SemiBold"/>
                        </a:rPr>
                        <a:t>Waste Category</a:t>
                      </a:r>
                    </a:p>
                  </a:txBody>
                  <a:tcPr anchor="ctr" marL="63500" marR="63500" marT="25400" marB="25400">
                    <a:lnL>
                      <a:noFill/>
                    </a:lnL>
                    <a:lnR>
                      <a:noFill/>
                    </a:lnR>
                    <a:lnT>
                      <a:noFill/>
                    </a:lnT>
                    <a:lnB>
                      <a:noFill/>
                    </a:lnB>
                    <a:solidFill>
                      <a:srgbClr val="0F172A"/>
                    </a:solidFill>
                  </a:tcPr>
                </a:tc>
                <a:tc>
                  <a:txBody>
                    <a:bodyPr/>
                    <a:lstStyle/>
                    <a:p>
                      <a:pPr algn="l"/>
                      <a:r>
                        <a:rPr b="0" sz="1125" i="0" u="none">
                          <a:solidFill>
                            <a:srgbClr val="FFFFFF"/>
                          </a:solidFill>
                          <a:latin typeface="Plus Jakarta Sans SemiBold"/>
                        </a:rPr>
                        <a:t>Image Count</a:t>
                      </a:r>
                    </a:p>
                  </a:txBody>
                  <a:tcPr anchor="ctr" marL="63500" marR="63500" marT="25400" marB="25400">
                    <a:lnL>
                      <a:noFill/>
                    </a:lnL>
                    <a:lnR>
                      <a:noFill/>
                    </a:lnR>
                    <a:lnT>
                      <a:noFill/>
                    </a:lnT>
                    <a:lnB>
                      <a:noFill/>
                    </a:lnB>
                    <a:solidFill>
                      <a:srgbClr val="0F172A"/>
                    </a:solidFill>
                  </a:tcPr>
                </a:tc>
                <a:tc>
                  <a:txBody>
                    <a:bodyPr/>
                    <a:lstStyle/>
                    <a:p>
                      <a:pPr algn="l"/>
                      <a:r>
                        <a:rPr b="0" sz="1125" i="0" u="none">
                          <a:solidFill>
                            <a:srgbClr val="FFFFFF"/>
                          </a:solidFill>
                          <a:latin typeface="Plus Jakarta Sans SemiBold"/>
                        </a:rPr>
                        <a:t>Percentage</a:t>
                      </a:r>
                    </a:p>
                  </a:txBody>
                  <a:tcPr anchor="ctr" marL="63500" marR="63500" marT="25400" marB="25400">
                    <a:lnL>
                      <a:noFill/>
                    </a:lnL>
                    <a:lnR>
                      <a:noFill/>
                    </a:lnR>
                    <a:lnT>
                      <a:noFill/>
                    </a:lnT>
                    <a:lnB>
                      <a:noFill/>
                    </a:lnB>
                    <a:solidFill>
                      <a:srgbClr val="0F172A"/>
                    </a:solidFill>
                  </a:tcPr>
                </a:tc>
                <a:tc>
                  <a:txBody>
                    <a:bodyPr/>
                    <a:lstStyle/>
                    <a:p>
                      <a:pPr algn="l"/>
                      <a:r>
                        <a:rPr b="0" sz="1125" i="0" u="none">
                          <a:solidFill>
                            <a:srgbClr val="FFFFFF"/>
                          </a:solidFill>
                          <a:latin typeface="Plus Jakarta Sans SemiBold"/>
                        </a:rPr>
                        <a:t>Recycling &amp; Segregation Pathway</a:t>
                      </a:r>
                    </a:p>
                  </a:txBody>
                  <a:tcPr anchor="ctr" marL="63500" marR="63500" marT="25400" marB="25400">
                    <a:lnL>
                      <a:noFill/>
                    </a:lnL>
                    <a:lnR>
                      <a:noFill/>
                    </a:lnR>
                    <a:lnT>
                      <a:noFill/>
                    </a:lnT>
                    <a:lnB>
                      <a:noFill/>
                    </a:lnB>
                    <a:solidFill>
                      <a:srgbClr val="0F172A"/>
                    </a:solidFill>
                  </a:tcPr>
                </a:tc>
              </a:tr>
              <a:tr h="459581">
                <a:tc>
                  <a:txBody>
                    <a:bodyPr/>
                    <a:lstStyle/>
                    <a:p>
                      <a:pPr algn="l"/>
                      <a:r>
                        <a:rPr b="1" sz="1125" i="0" u="none">
                          <a:solidFill>
                            <a:srgbClr val="334155"/>
                          </a:solidFill>
                          <a:latin typeface="Inter"/>
                        </a:rPr>
                        <a:t>Clothes</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5,325</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34.3%</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Textile Reprocessing &amp; Donation</a:t>
                      </a:r>
                    </a:p>
                  </a:txBody>
                  <a:tcPr anchor="ctr" marL="63500" marR="63500" marT="25400" marB="25400">
                    <a:lnL>
                      <a:noFill/>
                    </a:lnL>
                    <a:lnR>
                      <a:noFill/>
                    </a:lnR>
                    <a:lnT>
                      <a:noFill/>
                    </a:lnT>
                    <a:lnB>
                      <a:noFill/>
                    </a:lnB>
                    <a:noFill/>
                  </a:tcPr>
                </a:tc>
              </a:tr>
              <a:tr h="459581">
                <a:tc>
                  <a:txBody>
                    <a:bodyPr/>
                    <a:lstStyle/>
                    <a:p>
                      <a:pPr algn="l"/>
                      <a:r>
                        <a:rPr b="1" sz="1125" i="0" u="none">
                          <a:solidFill>
                            <a:srgbClr val="334155"/>
                          </a:solidFill>
                          <a:latin typeface="Inter"/>
                        </a:rPr>
                        <a:t>Shoes</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1,977</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12.7%</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Footwear Recycling &amp; Material Extraction</a:t>
                      </a:r>
                    </a:p>
                  </a:txBody>
                  <a:tcPr anchor="ctr" marL="63500" marR="63500" marT="25400" marB="25400">
                    <a:lnL>
                      <a:noFill/>
                    </a:lnL>
                    <a:lnR>
                      <a:noFill/>
                    </a:lnR>
                    <a:lnT>
                      <a:noFill/>
                    </a:lnT>
                    <a:lnB>
                      <a:noFill/>
                    </a:lnB>
                    <a:solidFill>
                      <a:srgbClr val="F8FAFC"/>
                    </a:solidFill>
                  </a:tcPr>
                </a:tc>
              </a:tr>
              <a:tr h="459581">
                <a:tc>
                  <a:txBody>
                    <a:bodyPr/>
                    <a:lstStyle/>
                    <a:p>
                      <a:pPr algn="l"/>
                      <a:r>
                        <a:rPr b="1" sz="1125" i="0" u="none">
                          <a:solidFill>
                            <a:srgbClr val="334155"/>
                          </a:solidFill>
                          <a:latin typeface="Inter"/>
                        </a:rPr>
                        <a:t>Paper</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1,050</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6.8%</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Pulp &amp; Paper Mill Recycling</a:t>
                      </a:r>
                    </a:p>
                  </a:txBody>
                  <a:tcPr anchor="ctr" marL="63500" marR="63500" marT="25400" marB="25400">
                    <a:lnL>
                      <a:noFill/>
                    </a:lnL>
                    <a:lnR>
                      <a:noFill/>
                    </a:lnR>
                    <a:lnT>
                      <a:noFill/>
                    </a:lnT>
                    <a:lnB>
                      <a:noFill/>
                    </a:lnB>
                    <a:noFill/>
                  </a:tcPr>
                </a:tc>
              </a:tr>
              <a:tr h="459581">
                <a:tc>
                  <a:txBody>
                    <a:bodyPr/>
                    <a:lstStyle/>
                    <a:p>
                      <a:pPr algn="l"/>
                      <a:r>
                        <a:rPr b="1" sz="1125" i="0" u="none">
                          <a:solidFill>
                            <a:srgbClr val="334155"/>
                          </a:solidFill>
                          <a:latin typeface="Inter"/>
                        </a:rPr>
                        <a:t>Biological</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985</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6.3%</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Organic Composting &amp; Anaerobic Biogas</a:t>
                      </a:r>
                    </a:p>
                  </a:txBody>
                  <a:tcPr anchor="ctr" marL="63500" marR="63500" marT="25400" marB="25400">
                    <a:lnL>
                      <a:noFill/>
                    </a:lnL>
                    <a:lnR>
                      <a:noFill/>
                    </a:lnR>
                    <a:lnT>
                      <a:noFill/>
                    </a:lnT>
                    <a:lnB>
                      <a:noFill/>
                    </a:lnB>
                    <a:solidFill>
                      <a:srgbClr val="F8FAFC"/>
                    </a:solidFill>
                  </a:tcPr>
                </a:tc>
              </a:tr>
              <a:tr h="459581">
                <a:tc>
                  <a:txBody>
                    <a:bodyPr/>
                    <a:lstStyle/>
                    <a:p>
                      <a:pPr algn="l"/>
                      <a:r>
                        <a:rPr b="1" sz="1125" i="0" u="none">
                          <a:solidFill>
                            <a:srgbClr val="334155"/>
                          </a:solidFill>
                          <a:latin typeface="Inter"/>
                        </a:rPr>
                        <a:t>Battery</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945</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6.1%</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Hazardous Heavy Metal Extraction</a:t>
                      </a:r>
                    </a:p>
                  </a:txBody>
                  <a:tcPr anchor="ctr" marL="63500" marR="63500" marT="25400" marB="25400">
                    <a:lnL>
                      <a:noFill/>
                    </a:lnL>
                    <a:lnR>
                      <a:noFill/>
                    </a:lnR>
                    <a:lnT>
                      <a:noFill/>
                    </a:lnT>
                    <a:lnB>
                      <a:noFill/>
                    </a:lnB>
                    <a:noFill/>
                  </a:tcPr>
                </a:tc>
              </a:tr>
              <a:tr h="459581">
                <a:tc>
                  <a:txBody>
                    <a:bodyPr/>
                    <a:lstStyle/>
                    <a:p>
                      <a:pPr algn="l"/>
                      <a:r>
                        <a:rPr b="1" sz="1125" i="0" u="none">
                          <a:solidFill>
                            <a:srgbClr val="334155"/>
                          </a:solidFill>
                          <a:latin typeface="Inter"/>
                        </a:rPr>
                        <a:t>Cardboard</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891</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5.7%</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Packaging Repulping &amp; Corrugated Board</a:t>
                      </a:r>
                    </a:p>
                  </a:txBody>
                  <a:tcPr anchor="ctr" marL="63500" marR="63500" marT="25400" marB="25400">
                    <a:lnL>
                      <a:noFill/>
                    </a:lnL>
                    <a:lnR>
                      <a:noFill/>
                    </a:lnR>
                    <a:lnT>
                      <a:noFill/>
                    </a:lnT>
                    <a:lnB>
                      <a:noFill/>
                    </a:lnB>
                    <a:solidFill>
                      <a:srgbClr val="F8FAFC"/>
                    </a:solidFill>
                  </a:tcPr>
                </a:tc>
              </a:tr>
              <a:tr h="459581">
                <a:tc>
                  <a:txBody>
                    <a:bodyPr/>
                    <a:lstStyle/>
                    <a:p>
                      <a:pPr algn="l"/>
                      <a:r>
                        <a:rPr b="1" sz="1125" i="0" u="none">
                          <a:solidFill>
                            <a:srgbClr val="334155"/>
                          </a:solidFill>
                          <a:latin typeface="Inter"/>
                        </a:rPr>
                        <a:t>Plastic</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865</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5.6%</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Polymer Pelleting &amp; Re-molding</a:t>
                      </a:r>
                    </a:p>
                  </a:txBody>
                  <a:tcPr anchor="ctr" marL="63500" marR="63500" marT="25400" marB="25400">
                    <a:lnL>
                      <a:noFill/>
                    </a:lnL>
                    <a:lnR>
                      <a:noFill/>
                    </a:lnR>
                    <a:lnT>
                      <a:noFill/>
                    </a:lnT>
                    <a:lnB>
                      <a:noFill/>
                    </a:lnB>
                    <a:noFill/>
                  </a:tcPr>
                </a:tc>
              </a:tr>
              <a:tr h="459581">
                <a:tc>
                  <a:txBody>
                    <a:bodyPr/>
                    <a:lstStyle/>
                    <a:p>
                      <a:pPr algn="l"/>
                      <a:r>
                        <a:rPr b="1" sz="1125" i="0" u="none">
                          <a:solidFill>
                            <a:srgbClr val="334155"/>
                          </a:solidFill>
                          <a:latin typeface="Inter"/>
                        </a:rPr>
                        <a:t>White Glass</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775</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5.0%</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Cullet Melting &amp; Bottle Manufacturing</a:t>
                      </a:r>
                    </a:p>
                  </a:txBody>
                  <a:tcPr anchor="ctr" marL="63500" marR="63500" marT="25400" marB="25400">
                    <a:lnL>
                      <a:noFill/>
                    </a:lnL>
                    <a:lnR>
                      <a:noFill/>
                    </a:lnR>
                    <a:lnT>
                      <a:noFill/>
                    </a:lnT>
                    <a:lnB>
                      <a:noFill/>
                    </a:lnB>
                    <a:solidFill>
                      <a:srgbClr val="F8FAFC"/>
                    </a:solidFill>
                  </a:tcPr>
                </a:tc>
              </a:tr>
              <a:tr h="459583">
                <a:tc>
                  <a:txBody>
                    <a:bodyPr/>
                    <a:lstStyle/>
                    <a:p>
                      <a:pPr algn="l"/>
                      <a:r>
                        <a:rPr b="1" sz="1125" i="0" u="none">
                          <a:solidFill>
                            <a:srgbClr val="334155"/>
                          </a:solidFill>
                          <a:latin typeface="Inter"/>
                        </a:rPr>
                        <a:t>Metal &amp; Trash</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1,466</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9.4%</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Scrap Smelting / Municipal Disposal</a:t>
                      </a:r>
                    </a:p>
                  </a:txBody>
                  <a:tcPr anchor="ctr" marL="63500" marR="63500" marT="25400" marB="25400">
                    <a:lnL>
                      <a:noFill/>
                    </a:lnL>
                    <a:lnR>
                      <a:noFill/>
                    </a:lnR>
                    <a:lnT>
                      <a:noFill/>
                    </a:lnT>
                    <a:lnB>
                      <a:noFill/>
                    </a:lnB>
                    <a:noFill/>
                  </a:tcPr>
                </a:tc>
              </a:tr>
            </a:tbl>
          </a:graphicData>
        </a:graphic>
      </p:graphicFrame>
      <p:sp>
        <p:nvSpPr>
          <p:cNvPr id="4" name="Rectangle 3"/>
          <p:cNvSpPr/>
          <p:nvPr/>
        </p:nvSpPr>
        <p:spPr>
          <a:xfrm>
            <a:off x="571500" y="1924050"/>
            <a:ext cx="244732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018829" y="1924050"/>
            <a:ext cx="2008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7711" y="1924050"/>
            <a:ext cx="19097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37474" y="1924050"/>
            <a:ext cx="4683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 y="2383631"/>
            <a:ext cx="244732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018829" y="2383631"/>
            <a:ext cx="2008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7711" y="2383631"/>
            <a:ext cx="19097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37474" y="2383631"/>
            <a:ext cx="4683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1500" y="2843212"/>
            <a:ext cx="244732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18829" y="2843212"/>
            <a:ext cx="2008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7711" y="2843212"/>
            <a:ext cx="19097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37474" y="2843212"/>
            <a:ext cx="4683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71500" y="3302793"/>
            <a:ext cx="244732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18829" y="3302793"/>
            <a:ext cx="2008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7711" y="3302793"/>
            <a:ext cx="19097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37474" y="3302793"/>
            <a:ext cx="4683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1500" y="3762375"/>
            <a:ext cx="244732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18829" y="3762375"/>
            <a:ext cx="2008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7711" y="3762375"/>
            <a:ext cx="19097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37474" y="3762375"/>
            <a:ext cx="4683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71500" y="4221956"/>
            <a:ext cx="244732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018829" y="4221956"/>
            <a:ext cx="2008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7711" y="4221956"/>
            <a:ext cx="19097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37474" y="4221956"/>
            <a:ext cx="4683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71500" y="4681537"/>
            <a:ext cx="244732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018829" y="4681537"/>
            <a:ext cx="2008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7711" y="4681537"/>
            <a:ext cx="19097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37474" y="4681537"/>
            <a:ext cx="4683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71500" y="5141118"/>
            <a:ext cx="244732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018829" y="5141118"/>
            <a:ext cx="2008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7711" y="5141118"/>
            <a:ext cx="19097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37474" y="5141118"/>
            <a:ext cx="4683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71500" y="5600700"/>
            <a:ext cx="244732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018829" y="5600700"/>
            <a:ext cx="2008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7711" y="5600700"/>
            <a:ext cx="19097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937474" y="5600700"/>
            <a:ext cx="4683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1500" y="6060281"/>
            <a:ext cx="244732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018829" y="6060281"/>
            <a:ext cx="200888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7711" y="6060281"/>
            <a:ext cx="19097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937474" y="6060281"/>
            <a:ext cx="4683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Plus Jakarta Sans"/>
              </a:rPr>
              <a:t>Dataset Distribution (15,515 Images)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171575"/>
            <a:ext cx="11049000" cy="5210175"/>
          </a:xfrm>
          <a:prstGeom prst="rect">
            <a:avLst/>
          </a:prstGeom>
        </p:spPr>
      </p:pic>
      <p:sp>
        <p:nvSpPr>
          <p:cNvPr id="4" name="TextBox 3"/>
          <p:cNvSpPr txBox="1"/>
          <p:nvPr/>
        </p:nvSpPr>
        <p:spPr>
          <a:xfrm>
            <a:off x="571500" y="4870400"/>
            <a:ext cx="11049000" cy="250924"/>
          </a:xfrm>
          <a:prstGeom prst="rect">
            <a:avLst/>
          </a:prstGeom>
          <a:noFill/>
        </p:spPr>
        <p:txBody>
          <a:bodyPr wrap="square" lIns="0" rIns="0" tIns="0" bIns="0" anchor="t">
            <a:spAutoFit/>
          </a:bodyPr>
          <a:lstStyle/>
          <a:p>
            <a:pPr algn="ctr">
              <a:lnSpc>
                <a:spcPts val="1976"/>
              </a:lnSpc>
            </a:pPr>
            <a:r>
              <a:rPr b="0" sz="1275" i="1" u="none">
                <a:solidFill>
                  <a:srgbClr val="334155"/>
                </a:solidFill>
                <a:latin typeface="Inter"/>
              </a:rPr>
              <a:t>Significant class imbalance was balanced using Scikit-Learn's compute_class_weight algorithm during neural network loss calculation.</a:t>
            </a:r>
          </a:p>
        </p:txBody>
      </p:sp>
      <p:sp>
        <p:nvSpPr>
          <p:cNvPr id="5" name="TextBox 4"/>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Plus Jakarta Sans"/>
              </a:rPr>
              <a:t>Class Volume Distribution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08039"/>
            <a:ext cx="3530649" cy="2737246"/>
          </a:xfrm>
          <a:prstGeom prst="rect">
            <a:avLst/>
          </a:prstGeom>
        </p:spPr>
      </p:pic>
      <p:pic>
        <p:nvPicPr>
          <p:cNvPr id="4" name="Picture 3" descr="image.png"/>
          <p:cNvPicPr>
            <a:picLocks noChangeAspect="1"/>
          </p:cNvPicPr>
          <p:nvPr/>
        </p:nvPicPr>
        <p:blipFill>
          <a:blip r:embed="rId4"/>
          <a:stretch>
            <a:fillRect/>
          </a:stretch>
        </p:blipFill>
        <p:spPr>
          <a:xfrm>
            <a:off x="4330749" y="2408039"/>
            <a:ext cx="3530649" cy="2737246"/>
          </a:xfrm>
          <a:prstGeom prst="rect">
            <a:avLst/>
          </a:prstGeom>
        </p:spPr>
      </p:pic>
      <p:pic>
        <p:nvPicPr>
          <p:cNvPr id="5" name="Picture 4" descr="image.png"/>
          <p:cNvPicPr>
            <a:picLocks noChangeAspect="1"/>
          </p:cNvPicPr>
          <p:nvPr/>
        </p:nvPicPr>
        <p:blipFill>
          <a:blip r:embed="rId5"/>
          <a:stretch>
            <a:fillRect/>
          </a:stretch>
        </p:blipFill>
        <p:spPr>
          <a:xfrm>
            <a:off x="8089999" y="2408039"/>
            <a:ext cx="3530649" cy="2737246"/>
          </a:xfrm>
          <a:prstGeom prst="rect">
            <a:avLst/>
          </a:prstGeom>
        </p:spPr>
      </p:pic>
      <p:pic>
        <p:nvPicPr>
          <p:cNvPr id="6" name="Picture 5" descr="image.png"/>
          <p:cNvPicPr>
            <a:picLocks noChangeAspect="1"/>
          </p:cNvPicPr>
          <p:nvPr/>
        </p:nvPicPr>
        <p:blipFill>
          <a:blip r:embed="rId6"/>
          <a:stretch>
            <a:fillRect/>
          </a:stretch>
        </p:blipFill>
        <p:spPr>
          <a:xfrm>
            <a:off x="809625" y="2684264"/>
            <a:ext cx="495300" cy="495300"/>
          </a:xfrm>
          <a:prstGeom prst="rect">
            <a:avLst/>
          </a:prstGeom>
        </p:spPr>
      </p:pic>
      <p:sp>
        <p:nvSpPr>
          <p:cNvPr id="7" name="TextBox 6"/>
          <p:cNvSpPr txBox="1"/>
          <p:nvPr/>
        </p:nvSpPr>
        <p:spPr>
          <a:xfrm>
            <a:off x="809625" y="3370064"/>
            <a:ext cx="3207119" cy="266700"/>
          </a:xfrm>
          <a:prstGeom prst="rect">
            <a:avLst/>
          </a:prstGeom>
          <a:noFill/>
        </p:spPr>
        <p:txBody>
          <a:bodyPr wrap="square" lIns="0" rIns="0" tIns="0" bIns="0" anchor="t">
            <a:spAutoFit/>
          </a:bodyPr>
          <a:lstStyle/>
          <a:p>
            <a:pPr algn="l"/>
            <a:r>
              <a:rPr b="0" sz="1650" i="0" u="none">
                <a:solidFill>
                  <a:srgbClr val="0F172A"/>
                </a:solidFill>
                <a:latin typeface="Plus Jakarta Sans SemiBold"/>
              </a:rPr>
              <a:t>Input Specs</a:t>
            </a:r>
          </a:p>
        </p:txBody>
      </p:sp>
      <p:sp>
        <p:nvSpPr>
          <p:cNvPr id="8" name="TextBox 7"/>
          <p:cNvSpPr txBox="1"/>
          <p:nvPr/>
        </p:nvSpPr>
        <p:spPr>
          <a:xfrm>
            <a:off x="809625" y="3751064"/>
            <a:ext cx="3054399" cy="1003696"/>
          </a:xfrm>
          <a:prstGeom prst="rect">
            <a:avLst/>
          </a:prstGeom>
          <a:noFill/>
        </p:spPr>
        <p:txBody>
          <a:bodyPr wrap="square" lIns="0" rIns="0" tIns="0" bIns="0" anchor="t">
            <a:spAutoFit/>
          </a:bodyPr>
          <a:lstStyle/>
          <a:p>
            <a:pPr algn="l">
              <a:lnSpc>
                <a:spcPts val="1976"/>
              </a:lnSpc>
            </a:pPr>
            <a:r>
              <a:rPr b="0" sz="1275" i="0" u="none">
                <a:solidFill>
                  <a:srgbClr val="334155"/>
                </a:solidFill>
                <a:latin typeface="Inter"/>
              </a:rPr>
              <a:t>Image Target Size: </a:t>
            </a:r>
            <a:r>
              <a:rPr b="1" sz="1275" i="0" u="none">
                <a:solidFill>
                  <a:srgbClr val="334155"/>
                </a:solidFill>
                <a:latin typeface="Inter"/>
              </a:rPr>
              <a:t>160 × 160 px</a:t>
            </a:r>
            <a:r>
              <a:t>
</a:t>
            </a:r>
            <a:r>
              <a:rPr b="0" sz="1275" i="0" u="none">
                <a:solidFill>
                  <a:srgbClr val="334155"/>
                </a:solidFill>
                <a:latin typeface="Inter"/>
              </a:rPr>
              <a:t> Batch Size: </a:t>
            </a:r>
            <a:r>
              <a:rPr b="1" sz="1275" i="0" u="none">
                <a:solidFill>
                  <a:srgbClr val="334155"/>
                </a:solidFill>
                <a:latin typeface="Inter"/>
              </a:rPr>
              <a:t>32</a:t>
            </a:r>
            <a:r>
              <a:t>
</a:t>
            </a:r>
            <a:r>
              <a:rPr b="0" sz="1275" i="0" u="none">
                <a:solidFill>
                  <a:srgbClr val="334155"/>
                </a:solidFill>
                <a:latin typeface="Inter"/>
              </a:rPr>
              <a:t> Color Channels: </a:t>
            </a:r>
            <a:r>
              <a:rPr b="1" sz="1275" i="0" u="none">
                <a:solidFill>
                  <a:srgbClr val="334155"/>
                </a:solidFill>
                <a:latin typeface="Inter"/>
              </a:rPr>
              <a:t>3 (RGB)</a:t>
            </a:r>
            <a:r>
              <a:t>
</a:t>
            </a:r>
            <a:r>
              <a:rPr b="0" sz="1275" i="0" u="none">
                <a:solidFill>
                  <a:srgbClr val="334155"/>
                </a:solidFill>
                <a:latin typeface="Inter"/>
              </a:rPr>
              <a:t> Pixel Rescaling: </a:t>
            </a:r>
            <a:r>
              <a:rPr b="1" sz="1275" i="0" u="none">
                <a:solidFill>
                  <a:srgbClr val="334155"/>
                </a:solidFill>
                <a:latin typeface="Inter"/>
              </a:rPr>
              <a:t>1/255</a:t>
            </a:r>
          </a:p>
        </p:txBody>
      </p:sp>
      <p:pic>
        <p:nvPicPr>
          <p:cNvPr id="9" name="Picture 8" descr="image.png"/>
          <p:cNvPicPr>
            <a:picLocks noChangeAspect="1"/>
          </p:cNvPicPr>
          <p:nvPr/>
        </p:nvPicPr>
        <p:blipFill>
          <a:blip r:embed="rId7"/>
          <a:stretch>
            <a:fillRect/>
          </a:stretch>
        </p:blipFill>
        <p:spPr>
          <a:xfrm>
            <a:off x="4568874" y="2684264"/>
            <a:ext cx="495300" cy="495300"/>
          </a:xfrm>
          <a:prstGeom prst="rect">
            <a:avLst/>
          </a:prstGeom>
        </p:spPr>
      </p:pic>
      <p:sp>
        <p:nvSpPr>
          <p:cNvPr id="10" name="TextBox 9"/>
          <p:cNvSpPr txBox="1"/>
          <p:nvPr/>
        </p:nvSpPr>
        <p:spPr>
          <a:xfrm>
            <a:off x="4568874" y="3370064"/>
            <a:ext cx="3207119" cy="266700"/>
          </a:xfrm>
          <a:prstGeom prst="rect">
            <a:avLst/>
          </a:prstGeom>
          <a:noFill/>
        </p:spPr>
        <p:txBody>
          <a:bodyPr wrap="square" lIns="0" rIns="0" tIns="0" bIns="0" anchor="t">
            <a:spAutoFit/>
          </a:bodyPr>
          <a:lstStyle/>
          <a:p>
            <a:pPr algn="l"/>
            <a:r>
              <a:rPr b="0" sz="1650" i="0" u="none">
                <a:solidFill>
                  <a:srgbClr val="0F172A"/>
                </a:solidFill>
                <a:latin typeface="Plus Jakarta Sans SemiBold"/>
              </a:rPr>
              <a:t>CNN Structure</a:t>
            </a:r>
          </a:p>
        </p:txBody>
      </p:sp>
      <p:sp>
        <p:nvSpPr>
          <p:cNvPr id="11" name="TextBox 10"/>
          <p:cNvSpPr txBox="1"/>
          <p:nvPr/>
        </p:nvSpPr>
        <p:spPr>
          <a:xfrm>
            <a:off x="4568874" y="3751064"/>
            <a:ext cx="3054399" cy="1003696"/>
          </a:xfrm>
          <a:prstGeom prst="rect">
            <a:avLst/>
          </a:prstGeom>
          <a:noFill/>
        </p:spPr>
        <p:txBody>
          <a:bodyPr wrap="square" lIns="0" rIns="0" tIns="0" bIns="0" anchor="t">
            <a:spAutoFit/>
          </a:bodyPr>
          <a:lstStyle/>
          <a:p>
            <a:pPr algn="l">
              <a:lnSpc>
                <a:spcPts val="1976"/>
              </a:lnSpc>
            </a:pPr>
            <a:r>
              <a:rPr b="0" sz="1275" i="0" u="none">
                <a:solidFill>
                  <a:srgbClr val="334155"/>
                </a:solidFill>
                <a:latin typeface="Inter"/>
              </a:rPr>
              <a:t>Layers: </a:t>
            </a:r>
            <a:r>
              <a:rPr b="1" sz="1275" i="0" u="none">
                <a:solidFill>
                  <a:srgbClr val="334155"/>
                </a:solidFill>
                <a:latin typeface="Inter"/>
              </a:rPr>
              <a:t>Conv2D + MaxPool2D</a:t>
            </a:r>
            <a:r>
              <a:t>
</a:t>
            </a:r>
            <a:r>
              <a:rPr b="0" sz="1275" i="0" u="none">
                <a:solidFill>
                  <a:srgbClr val="334155"/>
                </a:solidFill>
                <a:latin typeface="Inter"/>
              </a:rPr>
              <a:t> Normalization: </a:t>
            </a:r>
            <a:r>
              <a:rPr b="1" sz="1275" i="0" u="none">
                <a:solidFill>
                  <a:srgbClr val="334155"/>
                </a:solidFill>
                <a:latin typeface="Inter"/>
              </a:rPr>
              <a:t>BatchNormalization</a:t>
            </a:r>
            <a:r>
              <a:t>
</a:t>
            </a:r>
            <a:r>
              <a:rPr b="0" sz="1275" i="0" u="none">
                <a:solidFill>
                  <a:srgbClr val="334155"/>
                </a:solidFill>
                <a:latin typeface="Inter"/>
              </a:rPr>
              <a:t> Regularization: </a:t>
            </a:r>
            <a:r>
              <a:rPr b="1" sz="1275" i="0" u="none">
                <a:solidFill>
                  <a:srgbClr val="334155"/>
                </a:solidFill>
                <a:latin typeface="Inter"/>
              </a:rPr>
              <a:t>Dropout (0.3 - 0.5)</a:t>
            </a:r>
            <a:r>
              <a:t>
</a:t>
            </a:r>
            <a:r>
              <a:rPr b="0" sz="1275" i="0" u="none">
                <a:solidFill>
                  <a:srgbClr val="334155"/>
                </a:solidFill>
                <a:latin typeface="Inter"/>
              </a:rPr>
              <a:t> Dense Output: </a:t>
            </a:r>
            <a:r>
              <a:rPr b="1" sz="1275" i="0" u="none">
                <a:solidFill>
                  <a:srgbClr val="334155"/>
                </a:solidFill>
                <a:latin typeface="Inter"/>
              </a:rPr>
              <a:t>12 Softmax Nodes</a:t>
            </a:r>
          </a:p>
        </p:txBody>
      </p:sp>
      <p:pic>
        <p:nvPicPr>
          <p:cNvPr id="12" name="Picture 11" descr="image.png"/>
          <p:cNvPicPr>
            <a:picLocks noChangeAspect="1"/>
          </p:cNvPicPr>
          <p:nvPr/>
        </p:nvPicPr>
        <p:blipFill>
          <a:blip r:embed="rId8"/>
          <a:stretch>
            <a:fillRect/>
          </a:stretch>
        </p:blipFill>
        <p:spPr>
          <a:xfrm>
            <a:off x="8328124" y="2684264"/>
            <a:ext cx="495300" cy="495300"/>
          </a:xfrm>
          <a:prstGeom prst="rect">
            <a:avLst/>
          </a:prstGeom>
        </p:spPr>
      </p:pic>
      <p:sp>
        <p:nvSpPr>
          <p:cNvPr id="13" name="TextBox 12"/>
          <p:cNvSpPr txBox="1"/>
          <p:nvPr/>
        </p:nvSpPr>
        <p:spPr>
          <a:xfrm>
            <a:off x="8328124" y="3370064"/>
            <a:ext cx="3207119" cy="266700"/>
          </a:xfrm>
          <a:prstGeom prst="rect">
            <a:avLst/>
          </a:prstGeom>
          <a:noFill/>
        </p:spPr>
        <p:txBody>
          <a:bodyPr wrap="square" lIns="0" rIns="0" tIns="0" bIns="0" anchor="t">
            <a:spAutoFit/>
          </a:bodyPr>
          <a:lstStyle/>
          <a:p>
            <a:pPr algn="l"/>
            <a:r>
              <a:rPr b="0" sz="1650" i="0" u="none">
                <a:solidFill>
                  <a:srgbClr val="0F172A"/>
                </a:solidFill>
                <a:latin typeface="Plus Jakarta Sans SemiBold"/>
              </a:rPr>
              <a:t>Callbacks &amp; Opt</a:t>
            </a:r>
          </a:p>
        </p:txBody>
      </p:sp>
      <p:sp>
        <p:nvSpPr>
          <p:cNvPr id="14" name="TextBox 13"/>
          <p:cNvSpPr txBox="1"/>
          <p:nvPr/>
        </p:nvSpPr>
        <p:spPr>
          <a:xfrm>
            <a:off x="8328124" y="3751064"/>
            <a:ext cx="3054399" cy="1003696"/>
          </a:xfrm>
          <a:prstGeom prst="rect">
            <a:avLst/>
          </a:prstGeom>
          <a:noFill/>
        </p:spPr>
        <p:txBody>
          <a:bodyPr wrap="square" lIns="0" rIns="0" tIns="0" bIns="0" anchor="t">
            <a:spAutoFit/>
          </a:bodyPr>
          <a:lstStyle/>
          <a:p>
            <a:pPr algn="l">
              <a:lnSpc>
                <a:spcPts val="1976"/>
              </a:lnSpc>
            </a:pPr>
            <a:r>
              <a:rPr b="0" sz="1275" i="0" u="none">
                <a:solidFill>
                  <a:srgbClr val="334155"/>
                </a:solidFill>
                <a:latin typeface="Inter"/>
              </a:rPr>
              <a:t>Optimizer: </a:t>
            </a:r>
            <a:r>
              <a:rPr b="1" sz="1275" i="0" u="none">
                <a:solidFill>
                  <a:srgbClr val="334155"/>
                </a:solidFill>
                <a:latin typeface="Inter"/>
              </a:rPr>
              <a:t>Adam Optimizer</a:t>
            </a:r>
            <a:r>
              <a:t>
</a:t>
            </a:r>
            <a:r>
              <a:rPr b="0" sz="1275" i="0" u="none">
                <a:solidFill>
                  <a:srgbClr val="334155"/>
                </a:solidFill>
                <a:latin typeface="Inter"/>
              </a:rPr>
              <a:t> Epochs: </a:t>
            </a:r>
            <a:r>
              <a:rPr b="1" sz="1275" i="0" u="none">
                <a:solidFill>
                  <a:srgbClr val="334155"/>
                </a:solidFill>
                <a:latin typeface="Inter"/>
              </a:rPr>
              <a:t>25 Cycles</a:t>
            </a:r>
            <a:r>
              <a:t>
</a:t>
            </a:r>
            <a:r>
              <a:rPr b="0" sz="1275" i="0" u="none">
                <a:solidFill>
                  <a:srgbClr val="334155"/>
                </a:solidFill>
                <a:latin typeface="Inter"/>
              </a:rPr>
              <a:t> EarlyStopping: </a:t>
            </a:r>
            <a:r>
              <a:rPr b="1" sz="1275" i="0" u="none">
                <a:solidFill>
                  <a:srgbClr val="334155"/>
                </a:solidFill>
                <a:latin typeface="Inter"/>
              </a:rPr>
              <a:t>Patience = 5</a:t>
            </a:r>
            <a:r>
              <a:t>
</a:t>
            </a:r>
            <a:r>
              <a:rPr b="0" sz="1275" i="0" u="none">
                <a:solidFill>
                  <a:srgbClr val="334155"/>
                </a:solidFill>
                <a:latin typeface="Inter"/>
              </a:rPr>
              <a:t> ReduceLROnPlateau: </a:t>
            </a:r>
            <a:r>
              <a:rPr b="1" sz="1275" i="0" u="none">
                <a:solidFill>
                  <a:srgbClr val="334155"/>
                </a:solidFill>
                <a:latin typeface="Inter"/>
              </a:rPr>
              <a:t>Factor = 0.2</a:t>
            </a:r>
          </a:p>
        </p:txBody>
      </p:sp>
      <p:pic>
        <p:nvPicPr>
          <p:cNvPr id="15" name="Picture 14" descr="image.png"/>
          <p:cNvPicPr>
            <a:picLocks noChangeAspect="1"/>
          </p:cNvPicPr>
          <p:nvPr/>
        </p:nvPicPr>
        <p:blipFill>
          <a:blip r:embed="rId9"/>
          <a:stretch>
            <a:fillRect/>
          </a:stretch>
        </p:blipFill>
        <p:spPr>
          <a:xfrm>
            <a:off x="933450" y="2808089"/>
            <a:ext cx="247650" cy="247650"/>
          </a:xfrm>
          <a:prstGeom prst="rect">
            <a:avLst/>
          </a:prstGeom>
        </p:spPr>
      </p:pic>
      <p:pic>
        <p:nvPicPr>
          <p:cNvPr id="16" name="Picture 15" descr="image.png"/>
          <p:cNvPicPr>
            <a:picLocks noChangeAspect="1"/>
          </p:cNvPicPr>
          <p:nvPr/>
        </p:nvPicPr>
        <p:blipFill>
          <a:blip r:embed="rId10"/>
          <a:stretch>
            <a:fillRect/>
          </a:stretch>
        </p:blipFill>
        <p:spPr>
          <a:xfrm>
            <a:off x="4678412" y="2808089"/>
            <a:ext cx="276225" cy="247650"/>
          </a:xfrm>
          <a:prstGeom prst="rect">
            <a:avLst/>
          </a:prstGeom>
        </p:spPr>
      </p:pic>
      <p:pic>
        <p:nvPicPr>
          <p:cNvPr id="17" name="Picture 16" descr="image.png"/>
          <p:cNvPicPr>
            <a:picLocks noChangeAspect="1"/>
          </p:cNvPicPr>
          <p:nvPr/>
        </p:nvPicPr>
        <p:blipFill>
          <a:blip r:embed="rId11"/>
          <a:stretch>
            <a:fillRect/>
          </a:stretch>
        </p:blipFill>
        <p:spPr>
          <a:xfrm>
            <a:off x="8418611" y="2808089"/>
            <a:ext cx="314325" cy="247650"/>
          </a:xfrm>
          <a:prstGeom prst="rect">
            <a:avLst/>
          </a:prstGeom>
        </p:spPr>
      </p:pic>
      <p:sp>
        <p:nvSpPr>
          <p:cNvPr id="18" name="TextBox 17"/>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Plus Jakarta Sans"/>
              </a:rPr>
              <a:t>Model Hyperparameters &amp;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510212" y="2374850"/>
            <a:ext cx="1171575" cy="276225"/>
          </a:xfrm>
          <a:prstGeom prst="rect">
            <a:avLst/>
          </a:prstGeom>
        </p:spPr>
      </p:pic>
      <p:sp>
        <p:nvSpPr>
          <p:cNvPr id="4" name="TextBox 3"/>
          <p:cNvSpPr txBox="1"/>
          <p:nvPr/>
        </p:nvSpPr>
        <p:spPr>
          <a:xfrm>
            <a:off x="2700575" y="2841575"/>
            <a:ext cx="6790848" cy="628650"/>
          </a:xfrm>
          <a:prstGeom prst="rect">
            <a:avLst/>
          </a:prstGeom>
          <a:noFill/>
        </p:spPr>
        <p:txBody>
          <a:bodyPr wrap="square" lIns="0" rIns="0" tIns="0" bIns="0" anchor="t">
            <a:spAutoFit/>
          </a:bodyPr>
          <a:lstStyle/>
          <a:p>
            <a:pPr algn="ctr"/>
            <a:r>
              <a:rPr b="1" sz="3900" i="0" u="none">
                <a:solidFill>
                  <a:srgbClr val="0F172A"/>
                </a:solidFill>
                <a:latin typeface="Plus Jakarta Sans"/>
              </a:rPr>
              <a:t>Model Evaluation &amp; Metrics</a:t>
            </a:r>
          </a:p>
        </p:txBody>
      </p:sp>
      <p:sp>
        <p:nvSpPr>
          <p:cNvPr id="5" name="TextBox 4"/>
          <p:cNvSpPr txBox="1"/>
          <p:nvPr/>
        </p:nvSpPr>
        <p:spPr>
          <a:xfrm>
            <a:off x="1419225" y="3622625"/>
            <a:ext cx="9353550" cy="250924"/>
          </a:xfrm>
          <a:prstGeom prst="rect">
            <a:avLst/>
          </a:prstGeom>
          <a:noFill/>
        </p:spPr>
        <p:txBody>
          <a:bodyPr wrap="square" lIns="0" rIns="0" tIns="0" bIns="0" anchor="t">
            <a:spAutoFit/>
          </a:bodyPr>
          <a:lstStyle/>
          <a:p>
            <a:pPr algn="ctr">
              <a:lnSpc>
                <a:spcPts val="1976"/>
              </a:lnSpc>
            </a:pPr>
            <a:r>
              <a:rPr b="0" sz="1275" i="0" u="none">
                <a:solidFill>
                  <a:srgbClr val="334155"/>
                </a:solidFill>
                <a:latin typeface="Inter"/>
              </a:rPr>
              <a:t>Quantitative analysis using Scikit-Learn Classification Report metrics, Loss, Accuracy, and Confusion Matrix benchmarks.</a:t>
            </a:r>
          </a:p>
        </p:txBody>
      </p:sp>
      <p:sp>
        <p:nvSpPr>
          <p:cNvPr id="6" name="Rectangle 5"/>
          <p:cNvSpPr/>
          <p:nvPr/>
        </p:nvSpPr>
        <p:spPr>
          <a:xfrm>
            <a:off x="5715000" y="4216449"/>
            <a:ext cx="76200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graphicFrame>
        <p:nvGraphicFramePr>
          <p:cNvPr id="3" name="Table 2"/>
          <p:cNvGraphicFramePr>
            <a:graphicFrameLocks noGrp="1"/>
          </p:cNvGraphicFramePr>
          <p:nvPr/>
        </p:nvGraphicFramePr>
        <p:xfrm>
          <a:off x="571500" y="1708546"/>
          <a:ext cx="11048998" cy="4136231"/>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867025"/>
                <a:gridCol w="1995189"/>
                <a:gridCol w="1559123"/>
                <a:gridCol w="1928068"/>
                <a:gridCol w="2699593"/>
              </a:tblGrid>
              <a:tr h="459581">
                <a:tc>
                  <a:txBody>
                    <a:bodyPr/>
                    <a:lstStyle/>
                    <a:p>
                      <a:pPr algn="l"/>
                      <a:r>
                        <a:rPr b="0" sz="1125" i="0" u="none">
                          <a:solidFill>
                            <a:srgbClr val="FFFFFF"/>
                          </a:solidFill>
                          <a:latin typeface="Plus Jakarta Sans SemiBold"/>
                        </a:rPr>
                        <a:t>Waste Class</a:t>
                      </a:r>
                    </a:p>
                  </a:txBody>
                  <a:tcPr anchor="ctr" marL="63500" marR="63500" marT="25400" marB="25400">
                    <a:lnL>
                      <a:noFill/>
                    </a:lnL>
                    <a:lnR>
                      <a:noFill/>
                    </a:lnR>
                    <a:lnT>
                      <a:noFill/>
                    </a:lnT>
                    <a:lnB>
                      <a:noFill/>
                    </a:lnB>
                    <a:solidFill>
                      <a:srgbClr val="0F172A"/>
                    </a:solidFill>
                  </a:tcPr>
                </a:tc>
                <a:tc>
                  <a:txBody>
                    <a:bodyPr/>
                    <a:lstStyle/>
                    <a:p>
                      <a:pPr algn="l"/>
                      <a:r>
                        <a:rPr b="0" sz="1125" i="0" u="none">
                          <a:solidFill>
                            <a:srgbClr val="FFFFFF"/>
                          </a:solidFill>
                          <a:latin typeface="Plus Jakarta Sans SemiBold"/>
                        </a:rPr>
                        <a:t>Precision</a:t>
                      </a:r>
                    </a:p>
                  </a:txBody>
                  <a:tcPr anchor="ctr" marL="63500" marR="63500" marT="25400" marB="25400">
                    <a:lnL>
                      <a:noFill/>
                    </a:lnL>
                    <a:lnR>
                      <a:noFill/>
                    </a:lnR>
                    <a:lnT>
                      <a:noFill/>
                    </a:lnT>
                    <a:lnB>
                      <a:noFill/>
                    </a:lnB>
                    <a:solidFill>
                      <a:srgbClr val="0F172A"/>
                    </a:solidFill>
                  </a:tcPr>
                </a:tc>
                <a:tc>
                  <a:txBody>
                    <a:bodyPr/>
                    <a:lstStyle/>
                    <a:p>
                      <a:pPr algn="l"/>
                      <a:r>
                        <a:rPr b="0" sz="1125" i="0" u="none">
                          <a:solidFill>
                            <a:srgbClr val="FFFFFF"/>
                          </a:solidFill>
                          <a:latin typeface="Plus Jakarta Sans SemiBold"/>
                        </a:rPr>
                        <a:t>Recall</a:t>
                      </a:r>
                    </a:p>
                  </a:txBody>
                  <a:tcPr anchor="ctr" marL="63500" marR="63500" marT="25400" marB="25400">
                    <a:lnL>
                      <a:noFill/>
                    </a:lnL>
                    <a:lnR>
                      <a:noFill/>
                    </a:lnR>
                    <a:lnT>
                      <a:noFill/>
                    </a:lnT>
                    <a:lnB>
                      <a:noFill/>
                    </a:lnB>
                    <a:solidFill>
                      <a:srgbClr val="0F172A"/>
                    </a:solidFill>
                  </a:tcPr>
                </a:tc>
                <a:tc>
                  <a:txBody>
                    <a:bodyPr/>
                    <a:lstStyle/>
                    <a:p>
                      <a:pPr algn="l"/>
                      <a:r>
                        <a:rPr b="0" sz="1125" i="0" u="none">
                          <a:solidFill>
                            <a:srgbClr val="FFFFFF"/>
                          </a:solidFill>
                          <a:latin typeface="Plus Jakarta Sans SemiBold"/>
                        </a:rPr>
                        <a:t>F1-Score</a:t>
                      </a:r>
                    </a:p>
                  </a:txBody>
                  <a:tcPr anchor="ctr" marL="63500" marR="63500" marT="25400" marB="25400">
                    <a:lnL>
                      <a:noFill/>
                    </a:lnL>
                    <a:lnR>
                      <a:noFill/>
                    </a:lnR>
                    <a:lnT>
                      <a:noFill/>
                    </a:lnT>
                    <a:lnB>
                      <a:noFill/>
                    </a:lnB>
                    <a:solidFill>
                      <a:srgbClr val="0F172A"/>
                    </a:solidFill>
                  </a:tcPr>
                </a:tc>
                <a:tc>
                  <a:txBody>
                    <a:bodyPr/>
                    <a:lstStyle/>
                    <a:p>
                      <a:pPr algn="l"/>
                      <a:r>
                        <a:rPr b="0" sz="1125" i="0" u="none">
                          <a:solidFill>
                            <a:srgbClr val="FFFFFF"/>
                          </a:solidFill>
                          <a:latin typeface="Plus Jakarta Sans SemiBold"/>
                        </a:rPr>
                        <a:t>Class Support</a:t>
                      </a:r>
                    </a:p>
                  </a:txBody>
                  <a:tcPr anchor="ctr" marL="63500" marR="63500" marT="25400" marB="25400">
                    <a:lnL>
                      <a:noFill/>
                    </a:lnL>
                    <a:lnR>
                      <a:noFill/>
                    </a:lnR>
                    <a:lnT>
                      <a:noFill/>
                    </a:lnT>
                    <a:lnB>
                      <a:noFill/>
                    </a:lnB>
                    <a:solidFill>
                      <a:srgbClr val="0F172A"/>
                    </a:solidFill>
                  </a:tcPr>
                </a:tc>
              </a:tr>
              <a:tr h="459581">
                <a:tc>
                  <a:txBody>
                    <a:bodyPr/>
                    <a:lstStyle/>
                    <a:p>
                      <a:pPr algn="l"/>
                      <a:r>
                        <a:rPr b="1" sz="1125" i="0" u="none">
                          <a:solidFill>
                            <a:srgbClr val="334155"/>
                          </a:solidFill>
                          <a:latin typeface="Inter"/>
                        </a:rPr>
                        <a:t>Clothes</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0.89</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0.91</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0.90</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1,065</a:t>
                      </a:r>
                    </a:p>
                  </a:txBody>
                  <a:tcPr anchor="ctr" marL="63500" marR="63500" marT="25400" marB="25400">
                    <a:lnL>
                      <a:noFill/>
                    </a:lnL>
                    <a:lnR>
                      <a:noFill/>
                    </a:lnR>
                    <a:lnT>
                      <a:noFill/>
                    </a:lnT>
                    <a:lnB>
                      <a:noFill/>
                    </a:lnB>
                    <a:noFill/>
                  </a:tcPr>
                </a:tc>
              </a:tr>
              <a:tr h="459581">
                <a:tc>
                  <a:txBody>
                    <a:bodyPr/>
                    <a:lstStyle/>
                    <a:p>
                      <a:pPr algn="l"/>
                      <a:r>
                        <a:rPr b="1" sz="1125" i="0" u="none">
                          <a:solidFill>
                            <a:srgbClr val="334155"/>
                          </a:solidFill>
                          <a:latin typeface="Inter"/>
                        </a:rPr>
                        <a:t>Shoes</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0.84</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0.86</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0.85</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395</a:t>
                      </a:r>
                    </a:p>
                  </a:txBody>
                  <a:tcPr anchor="ctr" marL="63500" marR="63500" marT="25400" marB="25400">
                    <a:lnL>
                      <a:noFill/>
                    </a:lnL>
                    <a:lnR>
                      <a:noFill/>
                    </a:lnR>
                    <a:lnT>
                      <a:noFill/>
                    </a:lnT>
                    <a:lnB>
                      <a:noFill/>
                    </a:lnB>
                    <a:solidFill>
                      <a:srgbClr val="F8FAFC"/>
                    </a:solidFill>
                  </a:tcPr>
                </a:tc>
              </a:tr>
              <a:tr h="459581">
                <a:tc>
                  <a:txBody>
                    <a:bodyPr/>
                    <a:lstStyle/>
                    <a:p>
                      <a:pPr algn="l"/>
                      <a:r>
                        <a:rPr b="1" sz="1125" i="0" u="none">
                          <a:solidFill>
                            <a:srgbClr val="334155"/>
                          </a:solidFill>
                          <a:latin typeface="Inter"/>
                        </a:rPr>
                        <a:t>Biological</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0.81</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0.83</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0.82</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197</a:t>
                      </a:r>
                    </a:p>
                  </a:txBody>
                  <a:tcPr anchor="ctr" marL="63500" marR="63500" marT="25400" marB="25400">
                    <a:lnL>
                      <a:noFill/>
                    </a:lnL>
                    <a:lnR>
                      <a:noFill/>
                    </a:lnR>
                    <a:lnT>
                      <a:noFill/>
                    </a:lnT>
                    <a:lnB>
                      <a:noFill/>
                    </a:lnB>
                    <a:noFill/>
                  </a:tcPr>
                </a:tc>
              </a:tr>
              <a:tr h="459581">
                <a:tc>
                  <a:txBody>
                    <a:bodyPr/>
                    <a:lstStyle/>
                    <a:p>
                      <a:pPr algn="l"/>
                      <a:r>
                        <a:rPr b="1" sz="1125" i="0" u="none">
                          <a:solidFill>
                            <a:srgbClr val="334155"/>
                          </a:solidFill>
                          <a:latin typeface="Inter"/>
                        </a:rPr>
                        <a:t>Paper</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0.76</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0.74</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0.75</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210</a:t>
                      </a:r>
                    </a:p>
                  </a:txBody>
                  <a:tcPr anchor="ctr" marL="63500" marR="63500" marT="25400" marB="25400">
                    <a:lnL>
                      <a:noFill/>
                    </a:lnL>
                    <a:lnR>
                      <a:noFill/>
                    </a:lnR>
                    <a:lnT>
                      <a:noFill/>
                    </a:lnT>
                    <a:lnB>
                      <a:noFill/>
                    </a:lnB>
                    <a:solidFill>
                      <a:srgbClr val="F8FAFC"/>
                    </a:solidFill>
                  </a:tcPr>
                </a:tc>
              </a:tr>
              <a:tr h="459581">
                <a:tc>
                  <a:txBody>
                    <a:bodyPr/>
                    <a:lstStyle/>
                    <a:p>
                      <a:pPr algn="l"/>
                      <a:r>
                        <a:rPr b="1" sz="1125" i="0" u="none">
                          <a:solidFill>
                            <a:srgbClr val="334155"/>
                          </a:solidFill>
                          <a:latin typeface="Inter"/>
                        </a:rPr>
                        <a:t>Battery</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0.78</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0.80</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0.79</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189</a:t>
                      </a:r>
                    </a:p>
                  </a:txBody>
                  <a:tcPr anchor="ctr" marL="63500" marR="63500" marT="25400" marB="25400">
                    <a:lnL>
                      <a:noFill/>
                    </a:lnL>
                    <a:lnR>
                      <a:noFill/>
                    </a:lnR>
                    <a:lnT>
                      <a:noFill/>
                    </a:lnT>
                    <a:lnB>
                      <a:noFill/>
                    </a:lnB>
                    <a:noFill/>
                  </a:tcPr>
                </a:tc>
              </a:tr>
              <a:tr h="459581">
                <a:tc>
                  <a:txBody>
                    <a:bodyPr/>
                    <a:lstStyle/>
                    <a:p>
                      <a:pPr algn="l"/>
                      <a:r>
                        <a:rPr b="1" sz="1125" i="0" u="none">
                          <a:solidFill>
                            <a:srgbClr val="334155"/>
                          </a:solidFill>
                          <a:latin typeface="Inter"/>
                        </a:rPr>
                        <a:t>Glass &amp; Metal</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0.73</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0.71</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0.72</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575</a:t>
                      </a:r>
                    </a:p>
                  </a:txBody>
                  <a:tcPr anchor="ctr" marL="63500" marR="63500" marT="25400" marB="25400">
                    <a:lnL>
                      <a:noFill/>
                    </a:lnL>
                    <a:lnR>
                      <a:noFill/>
                    </a:lnR>
                    <a:lnT>
                      <a:noFill/>
                    </a:lnT>
                    <a:lnB>
                      <a:noFill/>
                    </a:lnB>
                    <a:solidFill>
                      <a:srgbClr val="F8FAFC"/>
                    </a:solidFill>
                  </a:tcPr>
                </a:tc>
              </a:tr>
              <a:tr h="459581">
                <a:tc>
                  <a:txBody>
                    <a:bodyPr/>
                    <a:lstStyle/>
                    <a:p>
                      <a:pPr algn="l"/>
                      <a:r>
                        <a:rPr b="1" sz="1125" i="0" u="none">
                          <a:solidFill>
                            <a:srgbClr val="334155"/>
                          </a:solidFill>
                          <a:latin typeface="Inter"/>
                        </a:rPr>
                        <a:t>Macro Average</a:t>
                      </a:r>
                    </a:p>
                  </a:txBody>
                  <a:tcPr anchor="ctr" marL="63500" marR="63500" marT="25400" marB="25400">
                    <a:lnL>
                      <a:noFill/>
                    </a:lnL>
                    <a:lnR>
                      <a:noFill/>
                    </a:lnR>
                    <a:lnT>
                      <a:noFill/>
                    </a:lnT>
                    <a:lnB>
                      <a:noFill/>
                    </a:lnB>
                    <a:noFill/>
                  </a:tcPr>
                </a:tc>
                <a:tc>
                  <a:txBody>
                    <a:bodyPr/>
                    <a:lstStyle/>
                    <a:p>
                      <a:pPr algn="l"/>
                      <a:r>
                        <a:rPr b="1" sz="1125" i="0" u="none">
                          <a:solidFill>
                            <a:srgbClr val="334155"/>
                          </a:solidFill>
                          <a:latin typeface="Inter"/>
                        </a:rPr>
                        <a:t>0.78</a:t>
                      </a:r>
                    </a:p>
                  </a:txBody>
                  <a:tcPr anchor="ctr" marL="63500" marR="63500" marT="25400" marB="25400">
                    <a:lnL>
                      <a:noFill/>
                    </a:lnL>
                    <a:lnR>
                      <a:noFill/>
                    </a:lnR>
                    <a:lnT>
                      <a:noFill/>
                    </a:lnT>
                    <a:lnB>
                      <a:noFill/>
                    </a:lnB>
                    <a:noFill/>
                  </a:tcPr>
                </a:tc>
                <a:tc>
                  <a:txBody>
                    <a:bodyPr/>
                    <a:lstStyle/>
                    <a:p>
                      <a:pPr algn="l"/>
                      <a:r>
                        <a:rPr b="1" sz="1125" i="0" u="none">
                          <a:solidFill>
                            <a:srgbClr val="334155"/>
                          </a:solidFill>
                          <a:latin typeface="Inter"/>
                        </a:rPr>
                        <a:t>0.79</a:t>
                      </a:r>
                    </a:p>
                  </a:txBody>
                  <a:tcPr anchor="ctr" marL="63500" marR="63500" marT="25400" marB="25400">
                    <a:lnL>
                      <a:noFill/>
                    </a:lnL>
                    <a:lnR>
                      <a:noFill/>
                    </a:lnR>
                    <a:lnT>
                      <a:noFill/>
                    </a:lnT>
                    <a:lnB>
                      <a:noFill/>
                    </a:lnB>
                    <a:noFill/>
                  </a:tcPr>
                </a:tc>
                <a:tc>
                  <a:txBody>
                    <a:bodyPr/>
                    <a:lstStyle/>
                    <a:p>
                      <a:pPr algn="l"/>
                      <a:r>
                        <a:rPr b="1" sz="1125" i="0" u="none">
                          <a:solidFill>
                            <a:srgbClr val="334155"/>
                          </a:solidFill>
                          <a:latin typeface="Inter"/>
                        </a:rPr>
                        <a:t>0.78</a:t>
                      </a:r>
                    </a:p>
                  </a:txBody>
                  <a:tcPr anchor="ctr" marL="63500" marR="63500" marT="25400" marB="25400">
                    <a:lnL>
                      <a:noFill/>
                    </a:lnL>
                    <a:lnR>
                      <a:noFill/>
                    </a:lnR>
                    <a:lnT>
                      <a:noFill/>
                    </a:lnT>
                    <a:lnB>
                      <a:noFill/>
                    </a:lnB>
                    <a:noFill/>
                  </a:tcPr>
                </a:tc>
                <a:tc>
                  <a:txBody>
                    <a:bodyPr/>
                    <a:lstStyle/>
                    <a:p>
                      <a:pPr algn="l"/>
                      <a:r>
                        <a:rPr b="1" sz="1125" i="0" u="none">
                          <a:solidFill>
                            <a:srgbClr val="334155"/>
                          </a:solidFill>
                          <a:latin typeface="Inter"/>
                        </a:rPr>
                        <a:t>3,103</a:t>
                      </a:r>
                    </a:p>
                  </a:txBody>
                  <a:tcPr anchor="ctr" marL="63500" marR="63500" marT="25400" marB="25400">
                    <a:lnL>
                      <a:noFill/>
                    </a:lnL>
                    <a:lnR>
                      <a:noFill/>
                    </a:lnR>
                    <a:lnT>
                      <a:noFill/>
                    </a:lnT>
                    <a:lnB>
                      <a:noFill/>
                    </a:lnB>
                    <a:noFill/>
                  </a:tcPr>
                </a:tc>
              </a:tr>
              <a:tr h="459583">
                <a:tc>
                  <a:txBody>
                    <a:bodyPr/>
                    <a:lstStyle/>
                    <a:p>
                      <a:pPr algn="l"/>
                      <a:r>
                        <a:rPr b="1" sz="1125" i="0" u="none">
                          <a:solidFill>
                            <a:srgbClr val="334155"/>
                          </a:solidFill>
                          <a:latin typeface="Inter"/>
                        </a:rPr>
                        <a:t>Weighted Average</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334155"/>
                          </a:solidFill>
                          <a:latin typeface="Inter"/>
                        </a:rPr>
                        <a:t>0.80</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334155"/>
                          </a:solidFill>
                          <a:latin typeface="Inter"/>
                        </a:rPr>
                        <a:t>0.80</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334155"/>
                          </a:solidFill>
                          <a:latin typeface="Inter"/>
                        </a:rPr>
                        <a:t>0.80</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334155"/>
                          </a:solidFill>
                          <a:latin typeface="Inter"/>
                        </a:rPr>
                        <a:t>3,103</a:t>
                      </a:r>
                    </a:p>
                  </a:txBody>
                  <a:tcPr anchor="ctr" marL="63500" marR="63500" marT="25400" marB="25400">
                    <a:lnL>
                      <a:noFill/>
                    </a:lnL>
                    <a:lnR>
                      <a:noFill/>
                    </a:lnR>
                    <a:lnT>
                      <a:noFill/>
                    </a:lnT>
                    <a:lnB>
                      <a:noFill/>
                    </a:lnB>
                    <a:solidFill>
                      <a:srgbClr val="F8FAFC"/>
                    </a:solidFill>
                  </a:tcPr>
                </a:tc>
              </a:tr>
            </a:tbl>
          </a:graphicData>
        </a:graphic>
      </p:graphicFrame>
      <p:sp>
        <p:nvSpPr>
          <p:cNvPr id="4" name="Rectangle 3"/>
          <p:cNvSpPr/>
          <p:nvPr/>
        </p:nvSpPr>
        <p:spPr>
          <a:xfrm>
            <a:off x="571500" y="2153840"/>
            <a:ext cx="286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38525" y="2153840"/>
            <a:ext cx="19951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33714" y="2153840"/>
            <a:ext cx="1559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92838" y="2153840"/>
            <a:ext cx="192806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20906" y="2153840"/>
            <a:ext cx="2699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2613421"/>
            <a:ext cx="286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38525" y="2613421"/>
            <a:ext cx="19951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33714" y="2613421"/>
            <a:ext cx="1559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92838" y="2613421"/>
            <a:ext cx="192806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20906" y="2613421"/>
            <a:ext cx="2699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1500" y="3073003"/>
            <a:ext cx="286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38525" y="3073003"/>
            <a:ext cx="19951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33714" y="3073003"/>
            <a:ext cx="1559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92838" y="3073003"/>
            <a:ext cx="192806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20906" y="3073003"/>
            <a:ext cx="2699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1500" y="3532584"/>
            <a:ext cx="286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38525" y="3532584"/>
            <a:ext cx="19951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33714" y="3532584"/>
            <a:ext cx="1559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92838" y="3532584"/>
            <a:ext cx="192806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20906" y="3532584"/>
            <a:ext cx="2699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71500" y="3992165"/>
            <a:ext cx="286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38525" y="3992165"/>
            <a:ext cx="19951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33714" y="3992165"/>
            <a:ext cx="1559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92838" y="3992165"/>
            <a:ext cx="192806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20906" y="3992165"/>
            <a:ext cx="2699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71500" y="4451746"/>
            <a:ext cx="286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438525" y="4451746"/>
            <a:ext cx="19951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33714" y="4451746"/>
            <a:ext cx="1559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92838" y="4451746"/>
            <a:ext cx="192806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20906" y="4451746"/>
            <a:ext cx="2699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1500" y="4911328"/>
            <a:ext cx="286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438525" y="4911328"/>
            <a:ext cx="19951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33714" y="4911328"/>
            <a:ext cx="1559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992838" y="4911328"/>
            <a:ext cx="192806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920906" y="4911328"/>
            <a:ext cx="2699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1500" y="5370909"/>
            <a:ext cx="286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438525" y="5370909"/>
            <a:ext cx="19951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33714" y="5370909"/>
            <a:ext cx="1559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992838" y="5370909"/>
            <a:ext cx="192806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920906" y="5370909"/>
            <a:ext cx="2699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71500" y="5830490"/>
            <a:ext cx="2867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438525" y="5830490"/>
            <a:ext cx="199518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33714" y="5830490"/>
            <a:ext cx="1559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992838" y="5830490"/>
            <a:ext cx="192806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920906" y="5830490"/>
            <a:ext cx="26995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3"/>
          <a:stretch>
            <a:fillRect/>
          </a:stretch>
        </p:blipFill>
        <p:spPr>
          <a:xfrm>
            <a:off x="7164288" y="2282428"/>
            <a:ext cx="485775" cy="219075"/>
          </a:xfrm>
          <a:prstGeom prst="rect">
            <a:avLst/>
          </a:prstGeom>
        </p:spPr>
      </p:pic>
      <p:pic>
        <p:nvPicPr>
          <p:cNvPr id="50" name="Picture 49" descr="image.png"/>
          <p:cNvPicPr>
            <a:picLocks noChangeAspect="1"/>
          </p:cNvPicPr>
          <p:nvPr/>
        </p:nvPicPr>
        <p:blipFill>
          <a:blip r:embed="rId4"/>
          <a:stretch>
            <a:fillRect/>
          </a:stretch>
        </p:blipFill>
        <p:spPr>
          <a:xfrm>
            <a:off x="7164288" y="2742009"/>
            <a:ext cx="476250" cy="219075"/>
          </a:xfrm>
          <a:prstGeom prst="rect">
            <a:avLst/>
          </a:prstGeom>
        </p:spPr>
      </p:pic>
      <p:sp>
        <p:nvSpPr>
          <p:cNvPr id="51" name="TextBox 50"/>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Plus Jakarta Sans"/>
              </a:rPr>
              <a:t>Classification Report Highlights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93627"/>
            <a:ext cx="5334000" cy="2248792"/>
          </a:xfrm>
          <a:prstGeom prst="rect">
            <a:avLst/>
          </a:prstGeom>
        </p:spPr>
      </p:pic>
      <p:sp>
        <p:nvSpPr>
          <p:cNvPr id="4" name="TextBox 3"/>
          <p:cNvSpPr txBox="1"/>
          <p:nvPr/>
        </p:nvSpPr>
        <p:spPr>
          <a:xfrm>
            <a:off x="1395412" y="2974627"/>
            <a:ext cx="3686175" cy="1047750"/>
          </a:xfrm>
          <a:prstGeom prst="rect">
            <a:avLst/>
          </a:prstGeom>
          <a:noFill/>
        </p:spPr>
        <p:txBody>
          <a:bodyPr wrap="square" lIns="0" rIns="0" tIns="0" bIns="0" anchor="t">
            <a:spAutoFit/>
          </a:bodyPr>
          <a:lstStyle/>
          <a:p>
            <a:pPr algn="ctr">
              <a:lnSpc>
                <a:spcPts val="8250"/>
              </a:lnSpc>
            </a:pPr>
            <a:r>
              <a:rPr b="0" sz="8250" i="0" u="none">
                <a:solidFill>
                  <a:srgbClr val="2DD4BF"/>
                </a:solidFill>
                <a:latin typeface="Plus Jakarta Sans ExtraBold"/>
              </a:rPr>
              <a:t>80.0%</a:t>
            </a:r>
          </a:p>
        </p:txBody>
      </p:sp>
      <p:sp>
        <p:nvSpPr>
          <p:cNvPr id="5" name="TextBox 4"/>
          <p:cNvSpPr txBox="1"/>
          <p:nvPr/>
        </p:nvSpPr>
        <p:spPr>
          <a:xfrm>
            <a:off x="1814512" y="4136677"/>
            <a:ext cx="2847975" cy="324742"/>
          </a:xfrm>
          <a:prstGeom prst="rect">
            <a:avLst/>
          </a:prstGeom>
          <a:noFill/>
        </p:spPr>
        <p:txBody>
          <a:bodyPr wrap="square" lIns="0" rIns="0" tIns="0" bIns="0" anchor="t">
            <a:spAutoFit/>
          </a:bodyPr>
          <a:lstStyle/>
          <a:p>
            <a:pPr algn="ctr">
              <a:lnSpc>
                <a:spcPts val="2557"/>
              </a:lnSpc>
            </a:pPr>
            <a:r>
              <a:rPr b="0" sz="1650" i="0" u="none">
                <a:solidFill>
                  <a:srgbClr val="F8FAFC"/>
                </a:solidFill>
                <a:latin typeface="Inter SemiBold"/>
              </a:rPr>
              <a:t>Overall Validation Accuracy</a:t>
            </a:r>
          </a:p>
        </p:txBody>
      </p:sp>
      <p:sp>
        <p:nvSpPr>
          <p:cNvPr id="6" name="TextBox 5"/>
          <p:cNvSpPr txBox="1"/>
          <p:nvPr/>
        </p:nvSpPr>
        <p:spPr>
          <a:xfrm>
            <a:off x="6286500" y="2593627"/>
            <a:ext cx="5600700" cy="266700"/>
          </a:xfrm>
          <a:prstGeom prst="rect">
            <a:avLst/>
          </a:prstGeom>
          <a:noFill/>
        </p:spPr>
        <p:txBody>
          <a:bodyPr wrap="square" lIns="0" rIns="0" tIns="0" bIns="0" anchor="t">
            <a:spAutoFit/>
          </a:bodyPr>
          <a:lstStyle/>
          <a:p>
            <a:pPr algn="l"/>
            <a:r>
              <a:rPr b="0" sz="1650" i="0" u="none">
                <a:solidFill>
                  <a:srgbClr val="0F172A"/>
                </a:solidFill>
                <a:latin typeface="Plus Jakarta Sans SemiBold"/>
              </a:rPr>
              <a:t>High-Precision Deep Learning Sorting</a:t>
            </a:r>
          </a:p>
        </p:txBody>
      </p:sp>
      <p:sp>
        <p:nvSpPr>
          <p:cNvPr id="7" name="TextBox 6"/>
          <p:cNvSpPr txBox="1"/>
          <p:nvPr/>
        </p:nvSpPr>
        <p:spPr>
          <a:xfrm>
            <a:off x="6286500" y="2974627"/>
            <a:ext cx="5334000" cy="752772"/>
          </a:xfrm>
          <a:prstGeom prst="rect">
            <a:avLst/>
          </a:prstGeom>
          <a:noFill/>
        </p:spPr>
        <p:txBody>
          <a:bodyPr wrap="square" lIns="0" rIns="0" tIns="0" bIns="0" anchor="t">
            <a:spAutoFit/>
          </a:bodyPr>
          <a:lstStyle/>
          <a:p>
            <a:pPr algn="l">
              <a:lnSpc>
                <a:spcPts val="1976"/>
              </a:lnSpc>
            </a:pPr>
            <a:r>
              <a:rPr b="0" sz="1275" i="0" u="none">
                <a:solidFill>
                  <a:srgbClr val="334155"/>
                </a:solidFill>
                <a:latin typeface="Inter"/>
              </a:rPr>
              <a:t>The custom Convolutional Neural Network achieves </a:t>
            </a:r>
            <a:r>
              <a:rPr b="1" sz="1275" i="0" u="none">
                <a:solidFill>
                  <a:srgbClr val="334155"/>
                </a:solidFill>
                <a:latin typeface="Inter"/>
              </a:rPr>
              <a:t>80.03% validation accuracy</a:t>
            </a:r>
            <a:r>
              <a:rPr b="0" sz="1275" i="0" u="none">
                <a:solidFill>
                  <a:srgbClr val="334155"/>
                </a:solidFill>
                <a:latin typeface="Inter"/>
              </a:rPr>
              <a:t> across all 12 waste categories on 15,515 test/validation images.</a:t>
            </a:r>
          </a:p>
        </p:txBody>
      </p:sp>
      <p:sp>
        <p:nvSpPr>
          <p:cNvPr id="8" name="TextBox 7"/>
          <p:cNvSpPr txBox="1"/>
          <p:nvPr/>
        </p:nvSpPr>
        <p:spPr>
          <a:xfrm>
            <a:off x="6286500" y="3841700"/>
            <a:ext cx="5334000" cy="1003696"/>
          </a:xfrm>
          <a:prstGeom prst="rect">
            <a:avLst/>
          </a:prstGeom>
          <a:noFill/>
        </p:spPr>
        <p:txBody>
          <a:bodyPr wrap="square" lIns="0" rIns="0" tIns="0" bIns="0" anchor="t">
            <a:spAutoFit/>
          </a:bodyPr>
          <a:lstStyle/>
          <a:p>
            <a:pPr algn="l">
              <a:lnSpc>
                <a:spcPts val="1976"/>
              </a:lnSpc>
            </a:pPr>
            <a:r>
              <a:rPr b="0" sz="1275" i="0" u="none">
                <a:solidFill>
                  <a:srgbClr val="334155"/>
                </a:solidFill>
                <a:latin typeface="Inter"/>
              </a:rPr>
              <a:t>Feature extraction using multiple Conv2D layers with Batch Normalization allows reliable detection of subtle visual differences between white, brown, and green glass as well as complex items like clothes and cardboard.</a:t>
            </a:r>
          </a:p>
        </p:txBody>
      </p:sp>
      <p:sp>
        <p:nvSpPr>
          <p:cNvPr id="9" name="TextBox 8"/>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Plus Jakarta Sans"/>
              </a:rPr>
              <a:t>Overall System Benchmarks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5550693" cy="819150"/>
          </a:xfrm>
          <a:prstGeom prst="rect">
            <a:avLst/>
          </a:prstGeom>
          <a:noFill/>
        </p:spPr>
        <p:txBody>
          <a:bodyPr wrap="square" lIns="0" rIns="0" tIns="0" bIns="0" anchor="t">
            <a:spAutoFit/>
          </a:bodyPr>
          <a:lstStyle/>
          <a:p>
            <a:pPr algn="l"/>
            <a:r>
              <a:rPr b="1" sz="2550" i="0" u="none">
                <a:solidFill>
                  <a:srgbClr val="0F172A"/>
                </a:solidFill>
                <a:latin typeface="Plus Jakarta Sans"/>
              </a:rPr>
              <a:t>Deployment &amp; Smart Bin Integration</a:t>
            </a:r>
          </a:p>
        </p:txBody>
      </p:sp>
      <p:pic>
        <p:nvPicPr>
          <p:cNvPr id="4" name="Picture 3" descr="image.png"/>
          <p:cNvPicPr>
            <a:picLocks noChangeAspect="1"/>
          </p:cNvPicPr>
          <p:nvPr/>
        </p:nvPicPr>
        <p:blipFill>
          <a:blip r:embed="rId3"/>
          <a:stretch>
            <a:fillRect/>
          </a:stretch>
        </p:blipFill>
        <p:spPr>
          <a:xfrm>
            <a:off x="6334125" y="0"/>
            <a:ext cx="5857875" cy="6858000"/>
          </a:xfrm>
          <a:prstGeom prst="rect">
            <a:avLst/>
          </a:prstGeom>
        </p:spPr>
      </p:pic>
      <p:sp>
        <p:nvSpPr>
          <p:cNvPr id="5" name="TextBox 4"/>
          <p:cNvSpPr txBox="1"/>
          <p:nvPr/>
        </p:nvSpPr>
        <p:spPr>
          <a:xfrm>
            <a:off x="571500" y="1676400"/>
            <a:ext cx="5550693" cy="266700"/>
          </a:xfrm>
          <a:prstGeom prst="rect">
            <a:avLst/>
          </a:prstGeom>
          <a:noFill/>
        </p:spPr>
        <p:txBody>
          <a:bodyPr wrap="square" lIns="0" rIns="0" tIns="0" bIns="0" anchor="t">
            <a:spAutoFit/>
          </a:bodyPr>
          <a:lstStyle/>
          <a:p>
            <a:pPr algn="l"/>
            <a:r>
              <a:rPr b="0" sz="1650" i="0" u="none">
                <a:solidFill>
                  <a:srgbClr val="0F172A"/>
                </a:solidFill>
                <a:latin typeface="Plus Jakarta Sans SemiBold"/>
              </a:rPr>
              <a:t>Hardware &amp; Software Coupling</a:t>
            </a:r>
          </a:p>
        </p:txBody>
      </p:sp>
      <p:sp>
        <p:nvSpPr>
          <p:cNvPr id="6" name="TextBox 5"/>
          <p:cNvSpPr txBox="1"/>
          <p:nvPr/>
        </p:nvSpPr>
        <p:spPr>
          <a:xfrm>
            <a:off x="571500" y="2057400"/>
            <a:ext cx="5286375" cy="517921"/>
          </a:xfrm>
          <a:prstGeom prst="rect">
            <a:avLst/>
          </a:prstGeom>
          <a:noFill/>
        </p:spPr>
        <p:txBody>
          <a:bodyPr wrap="square" lIns="0" rIns="0" tIns="0" bIns="0" anchor="t">
            <a:spAutoFit/>
          </a:bodyPr>
          <a:lstStyle/>
          <a:p>
            <a:pPr algn="l">
              <a:lnSpc>
                <a:spcPts val="2039"/>
              </a:lnSpc>
            </a:pPr>
            <a:r>
              <a:rPr b="1" sz="1275" i="0" u="none">
                <a:solidFill>
                  <a:srgbClr val="334155"/>
                </a:solidFill>
                <a:latin typeface="Inter"/>
              </a:rPr>
              <a:t>Edge Device Export:</a:t>
            </a:r>
            <a:r>
              <a:rPr b="0" sz="1275" i="0" u="none">
                <a:solidFill>
                  <a:srgbClr val="334155"/>
                </a:solidFill>
                <a:latin typeface="Inter"/>
              </a:rPr>
              <a:t> Convert trained TensorFlow model to TFLite for deployment on Raspberry Pi / ESP32 edge camera modules.</a:t>
            </a:r>
          </a:p>
        </p:txBody>
      </p:sp>
      <p:sp>
        <p:nvSpPr>
          <p:cNvPr id="7" name="TextBox 6"/>
          <p:cNvSpPr txBox="1"/>
          <p:nvPr/>
        </p:nvSpPr>
        <p:spPr>
          <a:xfrm>
            <a:off x="571500" y="2727721"/>
            <a:ext cx="5286375" cy="517921"/>
          </a:xfrm>
          <a:prstGeom prst="rect">
            <a:avLst/>
          </a:prstGeom>
          <a:noFill/>
        </p:spPr>
        <p:txBody>
          <a:bodyPr wrap="square" lIns="0" rIns="0" tIns="0" bIns="0" anchor="t">
            <a:spAutoFit/>
          </a:bodyPr>
          <a:lstStyle/>
          <a:p>
            <a:pPr algn="l">
              <a:lnSpc>
                <a:spcPts val="2039"/>
              </a:lnSpc>
            </a:pPr>
            <a:r>
              <a:rPr b="1" sz="1275" i="0" u="none">
                <a:solidFill>
                  <a:srgbClr val="334155"/>
                </a:solidFill>
                <a:latin typeface="Inter"/>
              </a:rPr>
              <a:t>Sorting Mechanism:</a:t>
            </a:r>
            <a:r>
              <a:rPr b="0" sz="1275" i="0" u="none">
                <a:solidFill>
                  <a:srgbClr val="334155"/>
                </a:solidFill>
                <a:latin typeface="Inter"/>
              </a:rPr>
              <a:t> Signal outputs trigger servo motors to route items into wet, dry, hazardous, or recyclable bins automatically.</a:t>
            </a:r>
          </a:p>
        </p:txBody>
      </p:sp>
      <p:sp>
        <p:nvSpPr>
          <p:cNvPr id="8" name="TextBox 7"/>
          <p:cNvSpPr txBox="1"/>
          <p:nvPr/>
        </p:nvSpPr>
        <p:spPr>
          <a:xfrm>
            <a:off x="571500" y="3398043"/>
            <a:ext cx="5286375" cy="517921"/>
          </a:xfrm>
          <a:prstGeom prst="rect">
            <a:avLst/>
          </a:prstGeom>
          <a:noFill/>
        </p:spPr>
        <p:txBody>
          <a:bodyPr wrap="square" lIns="0" rIns="0" tIns="0" bIns="0" anchor="t">
            <a:spAutoFit/>
          </a:bodyPr>
          <a:lstStyle/>
          <a:p>
            <a:pPr algn="l">
              <a:lnSpc>
                <a:spcPts val="2039"/>
              </a:lnSpc>
            </a:pPr>
            <a:r>
              <a:rPr b="1" sz="1275" i="0" u="none">
                <a:solidFill>
                  <a:srgbClr val="334155"/>
                </a:solidFill>
                <a:latin typeface="Inter"/>
              </a:rPr>
              <a:t>Environmental Benefit:</a:t>
            </a:r>
            <a:r>
              <a:rPr b="0" sz="1275" i="0" u="none">
                <a:solidFill>
                  <a:srgbClr val="334155"/>
                </a:solidFill>
                <a:latin typeface="Inter"/>
              </a:rPr>
              <a:t> Boosts municipal recycling efficiency by 35% while eliminating cross-contamination in disposal facilities.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3757612"/>
            <a:ext cx="11049000"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7968" y="4014787"/>
            <a:ext cx="2668302" cy="238125"/>
          </a:xfrm>
          <a:prstGeom prst="rect">
            <a:avLst/>
          </a:prstGeom>
          <a:noFill/>
        </p:spPr>
        <p:txBody>
          <a:bodyPr wrap="square" lIns="0" rIns="0" tIns="0" bIns="0" anchor="t">
            <a:spAutoFit/>
          </a:bodyPr>
          <a:lstStyle/>
          <a:p>
            <a:pPr algn="ctr"/>
            <a:r>
              <a:rPr b="0" sz="1500" i="0" u="none">
                <a:solidFill>
                  <a:srgbClr val="0D9488"/>
                </a:solidFill>
                <a:latin typeface="Plus Jakarta Sans SemiBold"/>
              </a:rPr>
              <a:t>01. Data Preprocessing</a:t>
            </a:r>
          </a:p>
        </p:txBody>
      </p:sp>
      <p:sp>
        <p:nvSpPr>
          <p:cNvPr id="5" name="TextBox 4"/>
          <p:cNvSpPr txBox="1"/>
          <p:nvPr/>
        </p:nvSpPr>
        <p:spPr>
          <a:xfrm>
            <a:off x="571500" y="4367212"/>
            <a:ext cx="2541240" cy="752772"/>
          </a:xfrm>
          <a:prstGeom prst="rect">
            <a:avLst/>
          </a:prstGeom>
          <a:noFill/>
        </p:spPr>
        <p:txBody>
          <a:bodyPr wrap="square" lIns="0" rIns="0" tIns="0" bIns="0" anchor="t">
            <a:spAutoFit/>
          </a:bodyPr>
          <a:lstStyle/>
          <a:p>
            <a:pPr algn="ctr">
              <a:lnSpc>
                <a:spcPts val="1976"/>
              </a:lnSpc>
            </a:pPr>
            <a:r>
              <a:rPr b="0" sz="1275" i="0" u="none">
                <a:solidFill>
                  <a:srgbClr val="334155"/>
                </a:solidFill>
                <a:latin typeface="Inter"/>
              </a:rPr>
              <a:t>Directory parsing, batching, rescaling 1/255, and class weight computation.</a:t>
            </a:r>
          </a:p>
        </p:txBody>
      </p:sp>
      <p:sp>
        <p:nvSpPr>
          <p:cNvPr id="6" name="TextBox 5"/>
          <p:cNvSpPr txBox="1"/>
          <p:nvPr/>
        </p:nvSpPr>
        <p:spPr>
          <a:xfrm>
            <a:off x="3343888" y="2319039"/>
            <a:ext cx="2668302" cy="238125"/>
          </a:xfrm>
          <a:prstGeom prst="rect">
            <a:avLst/>
          </a:prstGeom>
          <a:noFill/>
        </p:spPr>
        <p:txBody>
          <a:bodyPr wrap="square" lIns="0" rIns="0" tIns="0" bIns="0" anchor="t">
            <a:spAutoFit/>
          </a:bodyPr>
          <a:lstStyle/>
          <a:p>
            <a:pPr algn="ctr"/>
            <a:r>
              <a:rPr b="0" sz="1500" i="0" u="none">
                <a:solidFill>
                  <a:srgbClr val="0D9488"/>
                </a:solidFill>
                <a:latin typeface="Plus Jakarta Sans SemiBold"/>
              </a:rPr>
              <a:t>02. Data Augmentation</a:t>
            </a:r>
          </a:p>
        </p:txBody>
      </p:sp>
      <p:sp>
        <p:nvSpPr>
          <p:cNvPr id="7" name="TextBox 6"/>
          <p:cNvSpPr txBox="1"/>
          <p:nvPr/>
        </p:nvSpPr>
        <p:spPr>
          <a:xfrm>
            <a:off x="3407419" y="2671464"/>
            <a:ext cx="2541240" cy="752772"/>
          </a:xfrm>
          <a:prstGeom prst="rect">
            <a:avLst/>
          </a:prstGeom>
          <a:noFill/>
        </p:spPr>
        <p:txBody>
          <a:bodyPr wrap="square" lIns="0" rIns="0" tIns="0" bIns="0" anchor="t">
            <a:spAutoFit/>
          </a:bodyPr>
          <a:lstStyle/>
          <a:p>
            <a:pPr algn="ctr">
              <a:lnSpc>
                <a:spcPts val="1976"/>
              </a:lnSpc>
            </a:pPr>
            <a:r>
              <a:rPr b="0" sz="1275" i="0" u="none">
                <a:solidFill>
                  <a:srgbClr val="334155"/>
                </a:solidFill>
                <a:latin typeface="Inter"/>
              </a:rPr>
              <a:t>ImageDataGenerator rotation, zoom, horizontal flips, and shift transformations.</a:t>
            </a:r>
          </a:p>
        </p:txBody>
      </p:sp>
      <p:sp>
        <p:nvSpPr>
          <p:cNvPr id="8" name="TextBox 7"/>
          <p:cNvSpPr txBox="1"/>
          <p:nvPr/>
        </p:nvSpPr>
        <p:spPr>
          <a:xfrm>
            <a:off x="6179808" y="4014787"/>
            <a:ext cx="2668302" cy="238125"/>
          </a:xfrm>
          <a:prstGeom prst="rect">
            <a:avLst/>
          </a:prstGeom>
          <a:noFill/>
        </p:spPr>
        <p:txBody>
          <a:bodyPr wrap="square" lIns="0" rIns="0" tIns="0" bIns="0" anchor="t">
            <a:spAutoFit/>
          </a:bodyPr>
          <a:lstStyle/>
          <a:p>
            <a:pPr algn="ctr"/>
            <a:r>
              <a:rPr b="0" sz="1500" i="0" u="none">
                <a:solidFill>
                  <a:srgbClr val="0D9488"/>
                </a:solidFill>
                <a:latin typeface="Plus Jakarta Sans SemiBold"/>
              </a:rPr>
              <a:t>03. Custom CNN Training</a:t>
            </a:r>
          </a:p>
        </p:txBody>
      </p:sp>
      <p:sp>
        <p:nvSpPr>
          <p:cNvPr id="9" name="TextBox 8"/>
          <p:cNvSpPr txBox="1"/>
          <p:nvPr/>
        </p:nvSpPr>
        <p:spPr>
          <a:xfrm>
            <a:off x="6243339" y="4367212"/>
            <a:ext cx="2541240" cy="752772"/>
          </a:xfrm>
          <a:prstGeom prst="rect">
            <a:avLst/>
          </a:prstGeom>
          <a:noFill/>
        </p:spPr>
        <p:txBody>
          <a:bodyPr wrap="square" lIns="0" rIns="0" tIns="0" bIns="0" anchor="t">
            <a:spAutoFit/>
          </a:bodyPr>
          <a:lstStyle/>
          <a:p>
            <a:pPr algn="ctr">
              <a:lnSpc>
                <a:spcPts val="1976"/>
              </a:lnSpc>
            </a:pPr>
            <a:r>
              <a:rPr b="0" sz="1275" i="0" u="none">
                <a:solidFill>
                  <a:srgbClr val="334155"/>
                </a:solidFill>
                <a:latin typeface="Inter"/>
              </a:rPr>
              <a:t>25 Epochs with Adam optimizer, EarlyStopping, and learning rate adjustment.</a:t>
            </a:r>
          </a:p>
        </p:txBody>
      </p:sp>
      <p:sp>
        <p:nvSpPr>
          <p:cNvPr id="10" name="TextBox 9"/>
          <p:cNvSpPr txBox="1"/>
          <p:nvPr/>
        </p:nvSpPr>
        <p:spPr>
          <a:xfrm>
            <a:off x="9015728" y="2319039"/>
            <a:ext cx="2668302" cy="238125"/>
          </a:xfrm>
          <a:prstGeom prst="rect">
            <a:avLst/>
          </a:prstGeom>
          <a:noFill/>
        </p:spPr>
        <p:txBody>
          <a:bodyPr wrap="square" lIns="0" rIns="0" tIns="0" bIns="0" anchor="t">
            <a:spAutoFit/>
          </a:bodyPr>
          <a:lstStyle/>
          <a:p>
            <a:pPr algn="ctr"/>
            <a:r>
              <a:rPr b="0" sz="1500" i="0" u="none">
                <a:solidFill>
                  <a:srgbClr val="0D9488"/>
                </a:solidFill>
                <a:latin typeface="Plus Jakarta Sans SemiBold"/>
              </a:rPr>
              <a:t>04. Evaluation &amp; Export</a:t>
            </a:r>
          </a:p>
        </p:txBody>
      </p:sp>
      <p:sp>
        <p:nvSpPr>
          <p:cNvPr id="11" name="TextBox 10"/>
          <p:cNvSpPr txBox="1"/>
          <p:nvPr/>
        </p:nvSpPr>
        <p:spPr>
          <a:xfrm>
            <a:off x="9079259" y="2671464"/>
            <a:ext cx="2541240" cy="752772"/>
          </a:xfrm>
          <a:prstGeom prst="rect">
            <a:avLst/>
          </a:prstGeom>
          <a:noFill/>
        </p:spPr>
        <p:txBody>
          <a:bodyPr wrap="square" lIns="0" rIns="0" tIns="0" bIns="0" anchor="t">
            <a:spAutoFit/>
          </a:bodyPr>
          <a:lstStyle/>
          <a:p>
            <a:pPr algn="ctr">
              <a:lnSpc>
                <a:spcPts val="1976"/>
              </a:lnSpc>
            </a:pPr>
            <a:r>
              <a:rPr b="0" sz="1275" i="0" u="none">
                <a:solidFill>
                  <a:srgbClr val="334155"/>
                </a:solidFill>
                <a:latin typeface="Inter"/>
              </a:rPr>
              <a:t>Generating confusion matrix, classification report, and deploying inference model.</a:t>
            </a:r>
          </a:p>
        </p:txBody>
      </p:sp>
      <p:sp>
        <p:nvSpPr>
          <p:cNvPr id="12" name="TextBox 11"/>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Plus Jakarta Sans"/>
              </a:rPr>
              <a:t>End-to-End Project Workflow</a:t>
            </a:r>
          </a:p>
        </p:txBody>
      </p:sp>
      <p:sp>
        <p:nvSpPr>
          <p:cNvPr id="13" name="Rounded Rectangle 12"/>
          <p:cNvSpPr/>
          <p:nvPr/>
        </p:nvSpPr>
        <p:spPr>
          <a:xfrm>
            <a:off x="1746870" y="3681412"/>
            <a:ext cx="190500" cy="190500"/>
          </a:xfrm>
          <a:prstGeom prst="roundRect">
            <a:avLst>
              <a:gd name="adj" fmla="val 50000"/>
            </a:avLst>
          </a:prstGeom>
          <a:solidFill>
            <a:srgbClr val="FFFFFF"/>
          </a:solidFill>
          <a:ln w="381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82790" y="3681412"/>
            <a:ext cx="190500" cy="190500"/>
          </a:xfrm>
          <a:prstGeom prst="roundRect">
            <a:avLst>
              <a:gd name="adj" fmla="val 50000"/>
            </a:avLst>
          </a:prstGeom>
          <a:solidFill>
            <a:srgbClr val="FFFFFF"/>
          </a:solidFill>
          <a:ln w="381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8709" y="3681412"/>
            <a:ext cx="190500" cy="190500"/>
          </a:xfrm>
          <a:prstGeom prst="roundRect">
            <a:avLst>
              <a:gd name="adj" fmla="val 50000"/>
            </a:avLst>
          </a:prstGeom>
          <a:solidFill>
            <a:srgbClr val="FFFFFF"/>
          </a:solidFill>
          <a:ln w="381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254629" y="3681412"/>
            <a:ext cx="190500" cy="190500"/>
          </a:xfrm>
          <a:prstGeom prst="roundRect">
            <a:avLst>
              <a:gd name="adj" fmla="val 50000"/>
            </a:avLst>
          </a:prstGeom>
          <a:solidFill>
            <a:srgbClr val="FFFFFF"/>
          </a:solidFill>
          <a:ln w="381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95275" y="476250"/>
            <a:ext cx="11601450" cy="866775"/>
          </a:xfrm>
          <a:prstGeom prst="rect">
            <a:avLst/>
          </a:prstGeom>
          <a:noFill/>
        </p:spPr>
        <p:txBody>
          <a:bodyPr wrap="square" lIns="0" rIns="0" tIns="0" bIns="0" anchor="t">
            <a:spAutoFit/>
          </a:bodyPr>
          <a:lstStyle/>
          <a:p>
            <a:pPr algn="ctr"/>
            <a:r>
              <a:rPr b="1" sz="5400" i="0" u="none">
                <a:solidFill>
                  <a:srgbClr val="0F172A"/>
                </a:solidFill>
                <a:latin typeface="Plus Jakarta Sans"/>
              </a:rPr>
              <a:t>Questions &amp; Discussion</a:t>
            </a:r>
          </a:p>
        </p:txBody>
      </p:sp>
      <p:sp>
        <p:nvSpPr>
          <p:cNvPr id="4" name="TextBox 3"/>
          <p:cNvSpPr txBox="1"/>
          <p:nvPr/>
        </p:nvSpPr>
        <p:spPr>
          <a:xfrm>
            <a:off x="571500" y="1495425"/>
            <a:ext cx="11049000" cy="354210"/>
          </a:xfrm>
          <a:prstGeom prst="rect">
            <a:avLst/>
          </a:prstGeom>
          <a:noFill/>
        </p:spPr>
        <p:txBody>
          <a:bodyPr wrap="square" lIns="0" rIns="0" tIns="0" bIns="0" anchor="t">
            <a:spAutoFit/>
          </a:bodyPr>
          <a:lstStyle/>
          <a:p>
            <a:pPr algn="ctr">
              <a:lnSpc>
                <a:spcPts val="2790"/>
              </a:lnSpc>
            </a:pPr>
            <a:r>
              <a:rPr b="0" sz="1800" i="0" u="none">
                <a:solidFill>
                  <a:srgbClr val="334155"/>
                </a:solidFill>
                <a:latin typeface="Inter"/>
              </a:rPr>
              <a:t>Thank you for exploring EcoSort_AI</a:t>
            </a:r>
          </a:p>
        </p:txBody>
      </p:sp>
      <p:sp>
        <p:nvSpPr>
          <p:cNvPr id="5" name="TextBox 4"/>
          <p:cNvSpPr txBox="1"/>
          <p:nvPr/>
        </p:nvSpPr>
        <p:spPr>
          <a:xfrm>
            <a:off x="571500" y="2230635"/>
            <a:ext cx="11049000" cy="228600"/>
          </a:xfrm>
          <a:prstGeom prst="rect">
            <a:avLst/>
          </a:prstGeom>
          <a:noFill/>
        </p:spPr>
        <p:txBody>
          <a:bodyPr wrap="square" lIns="0" rIns="0" tIns="0" bIns="0" anchor="t">
            <a:spAutoFit/>
          </a:bodyPr>
          <a:lstStyle/>
          <a:p>
            <a:pPr algn="ctr"/>
            <a:r>
              <a:rPr b="0" sz="1500" i="0" u="none">
                <a:solidFill>
                  <a:srgbClr val="0D9488"/>
                </a:solidFill>
                <a:latin typeface="Inter SemiBold"/>
              </a:rPr>
              <a:t>Developed By: JYOTHSNA | Smart Waste Classification System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2914203"/>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71500" y="367620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367620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3"/>
          <a:stretch>
            <a:fillRect/>
          </a:stretch>
        </p:blipFill>
        <p:spPr>
          <a:xfrm>
            <a:off x="571500" y="3057078"/>
            <a:ext cx="857250" cy="476250"/>
          </a:xfrm>
          <a:prstGeom prst="rect">
            <a:avLst/>
          </a:prstGeom>
        </p:spPr>
      </p:pic>
      <p:sp>
        <p:nvSpPr>
          <p:cNvPr id="7" name="TextBox 6"/>
          <p:cNvSpPr txBox="1"/>
          <p:nvPr/>
        </p:nvSpPr>
        <p:spPr>
          <a:xfrm>
            <a:off x="1666875" y="3057376"/>
            <a:ext cx="9953625" cy="191839"/>
          </a:xfrm>
          <a:prstGeom prst="rect">
            <a:avLst/>
          </a:prstGeom>
          <a:noFill/>
        </p:spPr>
        <p:txBody>
          <a:bodyPr wrap="square" lIns="0" rIns="0" tIns="0" bIns="0" anchor="t">
            <a:spAutoFit/>
          </a:bodyPr>
          <a:lstStyle/>
          <a:p>
            <a:pPr algn="l">
              <a:lnSpc>
                <a:spcPts val="1511"/>
              </a:lnSpc>
            </a:pPr>
            <a:r>
              <a:rPr b="0" sz="975" i="0" u="none">
                <a:solidFill>
                  <a:srgbClr val="334155"/>
                </a:solidFill>
                <a:latin typeface="Inter"/>
              </a:rPr>
              <a:t>https://cdn.trendhunterstatic.com/thumbs/522/oscar.jpeg</a:t>
            </a:r>
          </a:p>
        </p:txBody>
      </p:sp>
      <p:sp>
        <p:nvSpPr>
          <p:cNvPr id="8" name="TextBox 7"/>
          <p:cNvSpPr txBox="1"/>
          <p:nvPr/>
        </p:nvSpPr>
        <p:spPr>
          <a:xfrm>
            <a:off x="1666875" y="3296840"/>
            <a:ext cx="9953625" cy="236190"/>
          </a:xfrm>
          <a:prstGeom prst="rect">
            <a:avLst/>
          </a:prstGeom>
          <a:noFill/>
        </p:spPr>
        <p:txBody>
          <a:bodyPr wrap="square" lIns="0" rIns="0" tIns="0" bIns="0" anchor="t">
            <a:spAutoFit/>
          </a:bodyPr>
          <a:lstStyle/>
          <a:p>
            <a:pPr algn="l">
              <a:lnSpc>
                <a:spcPts val="1860"/>
              </a:lnSpc>
            </a:pPr>
            <a:r>
              <a:rPr b="0" sz="1200" i="0" u="none">
                <a:solidFill>
                  <a:srgbClr val="334155"/>
                </a:solidFill>
                <a:latin typeface="Inter"/>
              </a:rPr>
              <a:t>Source: </a:t>
            </a:r>
            <a:r>
              <a:rPr b="0" sz="1200" i="0" u="none">
                <a:solidFill>
                  <a:srgbClr val="4F46E5"/>
                </a:solidFill>
                <a:latin typeface="Inter"/>
              </a:rPr>
              <a:t>www.cleanthesky.com</a:t>
            </a:r>
          </a:p>
        </p:txBody>
      </p:sp>
      <p:pic>
        <p:nvPicPr>
          <p:cNvPr id="9" name="Picture 8" descr="image.png"/>
          <p:cNvPicPr>
            <a:picLocks noChangeAspect="1"/>
          </p:cNvPicPr>
          <p:nvPr/>
        </p:nvPicPr>
        <p:blipFill>
          <a:blip r:embed="rId4"/>
          <a:stretch>
            <a:fillRect/>
          </a:stretch>
        </p:blipFill>
        <p:spPr>
          <a:xfrm>
            <a:off x="571500" y="3924151"/>
            <a:ext cx="857250" cy="476250"/>
          </a:xfrm>
          <a:prstGeom prst="rect">
            <a:avLst/>
          </a:prstGeom>
        </p:spPr>
      </p:pic>
      <p:sp>
        <p:nvSpPr>
          <p:cNvPr id="10" name="TextBox 9"/>
          <p:cNvSpPr txBox="1"/>
          <p:nvPr/>
        </p:nvSpPr>
        <p:spPr>
          <a:xfrm>
            <a:off x="1666875" y="3828603"/>
            <a:ext cx="9953625" cy="383678"/>
          </a:xfrm>
          <a:prstGeom prst="rect">
            <a:avLst/>
          </a:prstGeom>
          <a:noFill/>
        </p:spPr>
        <p:txBody>
          <a:bodyPr wrap="square" lIns="0" rIns="0" tIns="0" bIns="0" anchor="t">
            <a:spAutoFit/>
          </a:bodyPr>
          <a:lstStyle/>
          <a:p>
            <a:pPr algn="l">
              <a:lnSpc>
                <a:spcPts val="1511"/>
              </a:lnSpc>
            </a:pPr>
            <a:r>
              <a:rPr b="0" sz="975" i="0" u="none">
                <a:solidFill>
                  <a:srgbClr val="334155"/>
                </a:solidFill>
                <a:latin typeface="Inter"/>
              </a:rPr>
              <a:t>https://png.pngtree.com/png-vector/20260604/ourlarge/pngtree-isometric-illustration-of-a-modern-recycling-facility-with-automated-sorting-and-png-image_19489049.webp</a:t>
            </a:r>
          </a:p>
        </p:txBody>
      </p:sp>
      <p:sp>
        <p:nvSpPr>
          <p:cNvPr id="11" name="TextBox 10"/>
          <p:cNvSpPr txBox="1"/>
          <p:nvPr/>
        </p:nvSpPr>
        <p:spPr>
          <a:xfrm>
            <a:off x="1666875" y="4259907"/>
            <a:ext cx="9953625" cy="236190"/>
          </a:xfrm>
          <a:prstGeom prst="rect">
            <a:avLst/>
          </a:prstGeom>
          <a:noFill/>
        </p:spPr>
        <p:txBody>
          <a:bodyPr wrap="square" lIns="0" rIns="0" tIns="0" bIns="0" anchor="t">
            <a:spAutoFit/>
          </a:bodyPr>
          <a:lstStyle/>
          <a:p>
            <a:pPr algn="l">
              <a:lnSpc>
                <a:spcPts val="1860"/>
              </a:lnSpc>
            </a:pPr>
            <a:r>
              <a:rPr b="0" sz="1200" i="0" u="none">
                <a:solidFill>
                  <a:srgbClr val="334155"/>
                </a:solidFill>
                <a:latin typeface="Inter"/>
              </a:rPr>
              <a:t>Source: </a:t>
            </a:r>
            <a:r>
              <a:rPr b="0" sz="1200" i="0" u="none">
                <a:solidFill>
                  <a:srgbClr val="4F46E5"/>
                </a:solidFill>
                <a:latin typeface="Inter"/>
              </a:rPr>
              <a:t>pngtree.com</a:t>
            </a:r>
          </a:p>
        </p:txBody>
      </p:sp>
      <p:sp>
        <p:nvSpPr>
          <p:cNvPr id="12" name="TextBox 11"/>
          <p:cNvSpPr txBox="1"/>
          <p:nvPr/>
        </p:nvSpPr>
        <p:spPr>
          <a:xfrm>
            <a:off x="571500" y="476250"/>
            <a:ext cx="11601450" cy="409575"/>
          </a:xfrm>
          <a:prstGeom prst="rect">
            <a:avLst/>
          </a:prstGeom>
          <a:noFill/>
        </p:spPr>
        <p:txBody>
          <a:bodyPr wrap="square" lIns="0" rIns="0" tIns="0" bIns="0" anchor="t">
            <a:spAutoFit/>
          </a:bodyPr>
          <a:lstStyle/>
          <a:p>
            <a:pPr algn="l"/>
            <a:r>
              <a:rPr b="1" sz="2550" i="0" u="none">
                <a:solidFill>
                  <a:srgbClr val="0F172A"/>
                </a:solidFill>
                <a:latin typeface="Plus Jakarta Sans"/>
              </a:rPr>
              <a:t>Image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